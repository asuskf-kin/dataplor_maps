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embeddedFontLst>
    <p:embeddedFont>
      <p:font typeface="Space Grotesk"/>
      <p:regular r:id="rIdF1"/>
      <p:bold r:id="rIdF2"/>
    </p:embeddedFont>
    <p:embeddedFont>
      <p:font typeface="Albert Sans"/>
      <p:regular r:id="rIdF3"/>
      <p:bold r:id="rIdF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F1" Type="http://schemas.openxmlformats.org/officeDocument/2006/relationships/font" Target="fonts/font1.fntdata"/><Relationship Id="rIdF2" Type="http://schemas.openxmlformats.org/officeDocument/2006/relationships/font" Target="fonts/font2.fntdata"/><Relationship Id="rIdF3" Type="http://schemas.openxmlformats.org/officeDocument/2006/relationships/font" Target="fonts/font3.fntdata"/><Relationship Id="rIdF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417">
                  <a:alpha val="18000"/>
                </a:srgbClr>
              </a:gs>
              <a:gs pos="100000">
                <a:srgbClr val="141417">
                  <a:alpha val="4000"/>
                </a:srgbClr>
              </a:gs>
            </a:gsLst>
            <a:lin ang="0" scaled="0"/>
          </a:gra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3400"/>
            <a:ext cx="1658011" cy="10287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85800" y="2142199"/>
            <a:ext cx="9715500" cy="6002602"/>
          </a:xfrm>
          <a:prstGeom prst="roundRect">
            <a:avLst>
              <a:gd name="adj" fmla="val 1904"/>
            </a:avLst>
          </a:prstGeom>
          <a:solidFill>
            <a:srgbClr val="141417"/>
          </a:solidFill>
          <a:ln/>
        </p:spPr>
      </p:sp>
      <p:sp>
        <p:nvSpPr>
          <p:cNvPr id="6" name="Text 2"/>
          <p:cNvSpPr/>
          <p:nvPr/>
        </p:nvSpPr>
        <p:spPr>
          <a:xfrm>
            <a:off x="1562100" y="2904199"/>
            <a:ext cx="87591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E5FF0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EYEBROW LABEL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562100" y="3494749"/>
            <a:ext cx="8201787" cy="208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130"/>
              </a:lnSpc>
              <a:buNone/>
            </a:pPr>
            <a:r>
              <a:rPr lang="en-US" sz="8400" b="1" spc="-225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Presentation title here</a:t>
            </a:r>
            <a:endParaRPr lang="en-US" sz="8400" dirty="0"/>
          </a:p>
        </p:txBody>
      </p:sp>
      <p:sp>
        <p:nvSpPr>
          <p:cNvPr id="8" name="Text 4"/>
          <p:cNvSpPr/>
          <p:nvPr/>
        </p:nvSpPr>
        <p:spPr>
          <a:xfrm>
            <a:off x="1562100" y="5733388"/>
            <a:ext cx="8759190" cy="511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82"/>
              </a:lnSpc>
              <a:buNone/>
            </a:pPr>
            <a:r>
              <a:rPr lang="en-US" sz="3450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short, declarative subtitle line</a:t>
            </a:r>
            <a:endParaRPr lang="en-US" sz="3450" dirty="0"/>
          </a:p>
        </p:txBody>
      </p:sp>
      <p:sp>
        <p:nvSpPr>
          <p:cNvPr id="9" name="Text 5"/>
          <p:cNvSpPr/>
          <p:nvPr/>
        </p:nvSpPr>
        <p:spPr>
          <a:xfrm>
            <a:off x="1562100" y="6682714"/>
            <a:ext cx="181770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2"/>
              </a:lnSpc>
              <a:buNone/>
            </a:pPr>
            <a:r>
              <a:rPr lang="en-US" sz="1125" b="1" spc="180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CLIENT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1562100" y="6973226"/>
            <a:ext cx="181770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61"/>
              </a:lnSpc>
              <a:buNone/>
            </a:pPr>
            <a:r>
              <a:rPr lang="en-US" sz="19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[CLIENT NAME]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3824155" y="6682714"/>
            <a:ext cx="164103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2"/>
              </a:lnSpc>
              <a:buNone/>
            </a:pPr>
            <a:r>
              <a:rPr lang="en-US" sz="1125" b="1" spc="180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PARTNER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3824155" y="6973226"/>
            <a:ext cx="16410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61"/>
              </a:lnSpc>
              <a:buNone/>
            </a:pPr>
            <a:r>
              <a:rPr lang="en-US" sz="19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Kin Analytics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925609" y="6682714"/>
            <a:ext cx="283547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2"/>
              </a:lnSpc>
              <a:buNone/>
            </a:pPr>
            <a:r>
              <a:rPr lang="en-US" sz="1125" b="1" spc="180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ENGAGEMENT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5925609" y="6973226"/>
            <a:ext cx="28354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61"/>
              </a:lnSpc>
              <a:buNone/>
            </a:pPr>
            <a:r>
              <a:rPr lang="en-US" sz="19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Lorem Ipsum · Q2 2026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15465809" y="9182100"/>
            <a:ext cx="213639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9758"/>
              </a:lnSpc>
              <a:buNone/>
            </a:pPr>
            <a:r>
              <a:rPr lang="en-US" sz="16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Kin Analytics© 2026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5465809" y="9544050"/>
            <a:ext cx="21363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2727"/>
              </a:lnSpc>
              <a:buNone/>
            </a:pPr>
            <a:r>
              <a:rPr lang="en-US" sz="1200" b="1" spc="192" kern="0" dirty="0">
                <a:solidFill>
                  <a:srgbClr val="E5FF0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905750"/>
          </a:xfrm>
          <a:prstGeom prst="rect">
            <a:avLst/>
          </a:prstGeom>
          <a:solidFill>
            <a:srgbClr val="2223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1574" b="11574"/>
          <a:stretch/>
        </p:blipFill>
        <p:spPr>
          <a:xfrm>
            <a:off x="0" y="0"/>
            <a:ext cx="18288000" cy="7905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7905750"/>
          </a:xfrm>
          <a:prstGeom prst="rect">
            <a:avLst/>
          </a:prstGeom>
          <a:gradFill rotWithShape="1">
            <a:gsLst>
              <a:gs pos="0">
                <a:srgbClr val="141417">
                  <a:alpha val="55000"/>
                </a:srgbClr>
              </a:gs>
              <a:gs pos="100000">
                <a:srgbClr val="141417">
                  <a:alpha val="78000"/>
                </a:srgbClr>
              </a:gs>
            </a:gsLst>
            <a:lin ang="5400000" scaled="0"/>
          </a:gradFill>
          <a:ln/>
        </p:spPr>
      </p:sp>
      <p:sp>
        <p:nvSpPr>
          <p:cNvPr id="5" name="Shape 2"/>
          <p:cNvSpPr/>
          <p:nvPr/>
        </p:nvSpPr>
        <p:spPr>
          <a:xfrm>
            <a:off x="1600200" y="2343150"/>
            <a:ext cx="9525" cy="53340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428750"/>
            <a:ext cx="1029229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13"/>
              </a:lnSpc>
              <a:buNone/>
            </a:pPr>
            <a:r>
              <a:rPr lang="en-US" sz="5850" b="1" spc="-225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01.</a:t>
            </a:r>
            <a:endParaRPr lang="en-US" sz="5850" dirty="0"/>
          </a:p>
        </p:txBody>
      </p:sp>
      <p:sp>
        <p:nvSpPr>
          <p:cNvPr id="7" name="Shape 4"/>
          <p:cNvSpPr/>
          <p:nvPr/>
        </p:nvSpPr>
        <p:spPr>
          <a:xfrm>
            <a:off x="2553229" y="1428750"/>
            <a:ext cx="85725" cy="74295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8" name="Shape 5"/>
          <p:cNvSpPr/>
          <p:nvPr/>
        </p:nvSpPr>
        <p:spPr>
          <a:xfrm>
            <a:off x="1428750" y="2407708"/>
            <a:ext cx="1912673" cy="1312069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9" name="Text 6"/>
          <p:cNvSpPr/>
          <p:nvPr/>
        </p:nvSpPr>
        <p:spPr>
          <a:xfrm>
            <a:off x="1504950" y="2436283"/>
            <a:ext cx="1836473" cy="1293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30"/>
              </a:lnSpc>
              <a:buNone/>
            </a:pPr>
            <a:r>
              <a:rPr lang="en-US" sz="2400" b="1" spc="-37" kern="0" dirty="0">
                <a:solidFill>
                  <a:srgbClr val="141417"/>
                </a:solidFill>
                <a:highlight>
                  <a:srgbClr val="E5FF01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title line one line two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838700" y="4152900"/>
            <a:ext cx="9525" cy="36195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667250" y="3238500"/>
            <a:ext cx="1134666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13"/>
              </a:lnSpc>
              <a:buNone/>
            </a:pPr>
            <a:r>
              <a:rPr lang="en-US" sz="5850" b="1" spc="-225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02.</a:t>
            </a:r>
            <a:endParaRPr lang="en-US" sz="5850" dirty="0"/>
          </a:p>
        </p:txBody>
      </p:sp>
      <p:sp>
        <p:nvSpPr>
          <p:cNvPr id="12" name="Shape 9"/>
          <p:cNvSpPr/>
          <p:nvPr/>
        </p:nvSpPr>
        <p:spPr>
          <a:xfrm>
            <a:off x="5897166" y="3238500"/>
            <a:ext cx="85725" cy="74295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7250" y="4217458"/>
            <a:ext cx="1912673" cy="879343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4" name="Text 11"/>
          <p:cNvSpPr/>
          <p:nvPr/>
        </p:nvSpPr>
        <p:spPr>
          <a:xfrm>
            <a:off x="4743450" y="4246033"/>
            <a:ext cx="1836473" cy="860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30"/>
              </a:lnSpc>
              <a:buNone/>
            </a:pPr>
            <a:r>
              <a:rPr lang="en-US" sz="2400" b="1" spc="-37" kern="0" dirty="0">
                <a:solidFill>
                  <a:srgbClr val="141417"/>
                </a:solidFill>
                <a:highlight>
                  <a:srgbClr val="E5FF01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title line one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8077200" y="2343150"/>
            <a:ext cx="9525" cy="53340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905750" y="1428750"/>
            <a:ext cx="1145117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13"/>
              </a:lnSpc>
              <a:buNone/>
            </a:pPr>
            <a:r>
              <a:rPr lang="en-US" sz="5850" b="1" spc="-225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03.</a:t>
            </a:r>
            <a:endParaRPr lang="en-US" sz="5850" dirty="0"/>
          </a:p>
        </p:txBody>
      </p:sp>
      <p:sp>
        <p:nvSpPr>
          <p:cNvPr id="17" name="Shape 14"/>
          <p:cNvSpPr/>
          <p:nvPr/>
        </p:nvSpPr>
        <p:spPr>
          <a:xfrm>
            <a:off x="9146117" y="1428750"/>
            <a:ext cx="85725" cy="74295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8" name="Shape 15"/>
          <p:cNvSpPr/>
          <p:nvPr/>
        </p:nvSpPr>
        <p:spPr>
          <a:xfrm>
            <a:off x="7905750" y="2407708"/>
            <a:ext cx="1912673" cy="446617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9" name="Text 16"/>
          <p:cNvSpPr/>
          <p:nvPr/>
        </p:nvSpPr>
        <p:spPr>
          <a:xfrm>
            <a:off x="7981950" y="2436283"/>
            <a:ext cx="1951540" cy="42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30"/>
              </a:lnSpc>
              <a:buNone/>
            </a:pPr>
            <a:r>
              <a:rPr lang="en-US" sz="240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title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1315700" y="4152900"/>
            <a:ext cx="9525" cy="36195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1144250" y="3238500"/>
            <a:ext cx="1165886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13"/>
              </a:lnSpc>
              <a:buNone/>
            </a:pPr>
            <a:r>
              <a:rPr lang="en-US" sz="5850" b="1" spc="-225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04.</a:t>
            </a:r>
            <a:endParaRPr lang="en-US" sz="5850" dirty="0"/>
          </a:p>
        </p:txBody>
      </p:sp>
      <p:sp>
        <p:nvSpPr>
          <p:cNvPr id="22" name="Shape 19"/>
          <p:cNvSpPr/>
          <p:nvPr/>
        </p:nvSpPr>
        <p:spPr>
          <a:xfrm>
            <a:off x="12405387" y="3238500"/>
            <a:ext cx="85725" cy="74295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23" name="Shape 20"/>
          <p:cNvSpPr/>
          <p:nvPr/>
        </p:nvSpPr>
        <p:spPr>
          <a:xfrm>
            <a:off x="11144250" y="4217458"/>
            <a:ext cx="1912673" cy="1312069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24" name="Text 21"/>
          <p:cNvSpPr/>
          <p:nvPr/>
        </p:nvSpPr>
        <p:spPr>
          <a:xfrm>
            <a:off x="11220450" y="4246033"/>
            <a:ext cx="1836473" cy="1293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30"/>
              </a:lnSpc>
              <a:buNone/>
            </a:pPr>
            <a:r>
              <a:rPr lang="en-US" sz="2400" b="1" spc="-37" kern="0" dirty="0">
                <a:solidFill>
                  <a:srgbClr val="141417"/>
                </a:solidFill>
                <a:highlight>
                  <a:srgbClr val="E5FF01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title line one line two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14554200" y="2343150"/>
            <a:ext cx="9525" cy="53340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4382750" y="1428750"/>
            <a:ext cx="1139164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13"/>
              </a:lnSpc>
              <a:buNone/>
            </a:pPr>
            <a:r>
              <a:rPr lang="en-US" sz="5850" b="1" spc="-225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05.</a:t>
            </a:r>
            <a:endParaRPr lang="en-US" sz="5850" dirty="0"/>
          </a:p>
        </p:txBody>
      </p:sp>
      <p:sp>
        <p:nvSpPr>
          <p:cNvPr id="27" name="Shape 24"/>
          <p:cNvSpPr/>
          <p:nvPr/>
        </p:nvSpPr>
        <p:spPr>
          <a:xfrm>
            <a:off x="15617164" y="1428750"/>
            <a:ext cx="85725" cy="74295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28" name="Shape 25"/>
          <p:cNvSpPr/>
          <p:nvPr/>
        </p:nvSpPr>
        <p:spPr>
          <a:xfrm>
            <a:off x="14382750" y="2407708"/>
            <a:ext cx="717550" cy="446617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29" name="Text 26"/>
          <p:cNvSpPr/>
          <p:nvPr/>
        </p:nvSpPr>
        <p:spPr>
          <a:xfrm>
            <a:off x="14458950" y="2436283"/>
            <a:ext cx="636905" cy="42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30"/>
              </a:lnSpc>
              <a:buNone/>
            </a:pPr>
            <a:r>
              <a:rPr lang="en-US" sz="240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Q&amp;A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0" y="7905750"/>
            <a:ext cx="18288000" cy="2381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722783"/>
            <a:ext cx="2857500" cy="747183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5807267" y="8896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417">
                  <a:alpha val="55000"/>
                </a:srgbClr>
              </a:gs>
              <a:gs pos="55000">
                <a:srgbClr val="141417">
                  <a:alpha val="20000"/>
                </a:srgbClr>
              </a:gs>
              <a:gs pos="75000">
                <a:srgbClr val="141417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11338587" y="0"/>
            <a:ext cx="6949414" cy="1028700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57200"/>
            <a:ext cx="1776373" cy="1106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786"/>
              </a:lnSpc>
              <a:buNone/>
            </a:pPr>
            <a:r>
              <a:rPr lang="en-US" sz="9900" b="1" spc="-375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01.</a:t>
            </a:r>
            <a:endParaRPr lang="en-US" sz="9900" dirty="0"/>
          </a:p>
        </p:txBody>
      </p:sp>
      <p:sp>
        <p:nvSpPr>
          <p:cNvPr id="6" name="Text 3"/>
          <p:cNvSpPr/>
          <p:nvPr/>
        </p:nvSpPr>
        <p:spPr>
          <a:xfrm>
            <a:off x="685800" y="4000500"/>
            <a:ext cx="1171384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250"/>
              </a:lnSpc>
              <a:buNone/>
            </a:pPr>
            <a:r>
              <a:rPr lang="en-US" sz="7500" b="1" spc="-18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heading</a:t>
            </a:r>
            <a:endParaRPr lang="en-US" sz="7500" dirty="0"/>
          </a:p>
        </p:txBody>
      </p:sp>
      <p:sp>
        <p:nvSpPr>
          <p:cNvPr id="7" name="Shape 4"/>
          <p:cNvSpPr/>
          <p:nvPr/>
        </p:nvSpPr>
        <p:spPr>
          <a:xfrm>
            <a:off x="685800" y="5031317"/>
            <a:ext cx="7299986" cy="129540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8" name="Text 5"/>
          <p:cNvSpPr/>
          <p:nvPr/>
        </p:nvSpPr>
        <p:spPr>
          <a:xfrm>
            <a:off x="857250" y="5069417"/>
            <a:ext cx="768708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38"/>
              </a:lnSpc>
              <a:buNone/>
            </a:pPr>
            <a:r>
              <a:rPr lang="en-US" sz="750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supporting line</a:t>
            </a:r>
            <a:endParaRPr lang="en-US" sz="7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4188" y="8724900"/>
            <a:ext cx="1658011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0" y="2667000"/>
            <a:ext cx="2857500" cy="3295650"/>
          </a:xfrm>
          <a:prstGeom prst="rect">
            <a:avLst/>
          </a:prstGeom>
          <a:solidFill>
            <a:srgbClr val="141417"/>
          </a:solidFill>
          <a:ln/>
        </p:spPr>
      </p:sp>
      <p:sp>
        <p:nvSpPr>
          <p:cNvPr id="3" name="Text 1"/>
          <p:cNvSpPr/>
          <p:nvPr/>
        </p:nvSpPr>
        <p:spPr>
          <a:xfrm>
            <a:off x="4095948" y="4144169"/>
            <a:ext cx="1523603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652"/>
              </a:lnSpc>
              <a:buNone/>
            </a:pPr>
            <a:r>
              <a:rPr lang="en-US" sz="24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572125" y="4314825"/>
            <a:ext cx="2857500" cy="329565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5" name="Text 3"/>
          <p:cNvSpPr/>
          <p:nvPr/>
        </p:nvSpPr>
        <p:spPr>
          <a:xfrm>
            <a:off x="6231506" y="5791994"/>
            <a:ext cx="1538737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652"/>
              </a:lnSpc>
              <a:buNone/>
            </a:pPr>
            <a:r>
              <a:rPr lang="en-US" sz="240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two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15250" y="2667000"/>
            <a:ext cx="2857500" cy="3295650"/>
          </a:xfrm>
          <a:prstGeom prst="rect">
            <a:avLst/>
          </a:prstGeom>
          <a:solidFill>
            <a:srgbClr val="999EA6"/>
          </a:solidFill>
          <a:ln/>
        </p:spPr>
      </p:sp>
      <p:sp>
        <p:nvSpPr>
          <p:cNvPr id="7" name="Text 5"/>
          <p:cNvSpPr/>
          <p:nvPr/>
        </p:nvSpPr>
        <p:spPr>
          <a:xfrm>
            <a:off x="8253703" y="4144169"/>
            <a:ext cx="1780593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652"/>
              </a:lnSpc>
              <a:buNone/>
            </a:pPr>
            <a:r>
              <a:rPr lang="en-US" sz="24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three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858375" y="4314825"/>
            <a:ext cx="2857500" cy="3295650"/>
          </a:xfrm>
          <a:prstGeom prst="rect">
            <a:avLst/>
          </a:prstGeom>
          <a:solidFill>
            <a:srgbClr val="141417"/>
          </a:solidFill>
          <a:ln/>
        </p:spPr>
      </p:sp>
      <p:sp>
        <p:nvSpPr>
          <p:cNvPr id="9" name="Text 7"/>
          <p:cNvSpPr/>
          <p:nvPr/>
        </p:nvSpPr>
        <p:spPr>
          <a:xfrm>
            <a:off x="10489525" y="5791994"/>
            <a:ext cx="1595199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652"/>
              </a:lnSpc>
              <a:buNone/>
            </a:pPr>
            <a:r>
              <a:rPr lang="en-US" sz="2400" b="1" spc="-37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four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01500" y="2667000"/>
            <a:ext cx="2857500" cy="3295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75440" y="4144169"/>
            <a:ext cx="1509488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652"/>
              </a:lnSpc>
              <a:buNone/>
            </a:pPr>
            <a:r>
              <a:rPr lang="en-US" sz="240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five</a:t>
            </a:r>
            <a:endParaRPr lang="en-US" sz="2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PROCESS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90650"/>
            <a:ext cx="174345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4500" b="1" spc="-12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title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19200" y="2686050"/>
            <a:ext cx="5029200" cy="2476500"/>
          </a:xfrm>
          <a:prstGeom prst="roundRect">
            <a:avLst>
              <a:gd name="adj" fmla="val 4615"/>
            </a:avLst>
          </a:prstGeom>
          <a:solidFill>
            <a:srgbClr val="141417"/>
          </a:solidFill>
          <a:ln/>
        </p:spPr>
      </p:sp>
      <p:sp>
        <p:nvSpPr>
          <p:cNvPr id="5" name="Text 3"/>
          <p:cNvSpPr/>
          <p:nvPr/>
        </p:nvSpPr>
        <p:spPr>
          <a:xfrm>
            <a:off x="2915708" y="3467100"/>
            <a:ext cx="163605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737"/>
              </a:lnSpc>
              <a:buNone/>
            </a:pPr>
            <a:r>
              <a:rPr lang="en-US" sz="3000" b="1" spc="-37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or item one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629400" y="2686050"/>
            <a:ext cx="5029200" cy="2476500"/>
          </a:xfrm>
          <a:prstGeom prst="roundRect">
            <a:avLst>
              <a:gd name="adj" fmla="val 4615"/>
            </a:avLst>
          </a:prstGeom>
          <a:solidFill>
            <a:srgbClr val="141417"/>
          </a:solidFill>
          <a:ln/>
        </p:spPr>
      </p:sp>
      <p:sp>
        <p:nvSpPr>
          <p:cNvPr id="7" name="Text 5"/>
          <p:cNvSpPr/>
          <p:nvPr/>
        </p:nvSpPr>
        <p:spPr>
          <a:xfrm>
            <a:off x="8317309" y="3467100"/>
            <a:ext cx="165324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737"/>
              </a:lnSpc>
              <a:buNone/>
            </a:pPr>
            <a:r>
              <a:rPr lang="en-US" sz="3000" b="1" spc="-37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or item two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2039600" y="2686050"/>
            <a:ext cx="5029200" cy="2476500"/>
          </a:xfrm>
          <a:prstGeom prst="roundRect">
            <a:avLst>
              <a:gd name="adj" fmla="val 4615"/>
            </a:avLst>
          </a:prstGeom>
          <a:solidFill>
            <a:srgbClr val="141417"/>
          </a:solidFill>
          <a:ln/>
        </p:spPr>
      </p:sp>
      <p:sp>
        <p:nvSpPr>
          <p:cNvPr id="9" name="Text 7"/>
          <p:cNvSpPr/>
          <p:nvPr/>
        </p:nvSpPr>
        <p:spPr>
          <a:xfrm>
            <a:off x="13588736" y="3467100"/>
            <a:ext cx="193092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737"/>
              </a:lnSpc>
              <a:buNone/>
            </a:pPr>
            <a:r>
              <a:rPr lang="en-US" sz="3000" b="1" spc="-37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or item three</a:t>
            </a:r>
            <a:endParaRPr lang="en-US" sz="3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POINT DETAIL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90650"/>
            <a:ext cx="174345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4500" b="1" spc="-12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Point heading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19200" y="2781300"/>
            <a:ext cx="133350" cy="133350"/>
          </a:xfrm>
          <a:prstGeom prst="ellipse">
            <a:avLst/>
          </a:prstGeom>
          <a:solidFill>
            <a:srgbClr val="141417"/>
          </a:solidFill>
          <a:ln/>
        </p:spPr>
      </p:sp>
      <p:sp>
        <p:nvSpPr>
          <p:cNvPr id="5" name="Text 3"/>
          <p:cNvSpPr/>
          <p:nvPr/>
        </p:nvSpPr>
        <p:spPr>
          <a:xfrm>
            <a:off x="1581150" y="2609850"/>
            <a:ext cx="9703911" cy="508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75"/>
              </a:lnSpc>
              <a:buNone/>
            </a:pPr>
            <a:r>
              <a:rPr lang="en-US" sz="2850" b="1" spc="-37" kern="0" dirty="0">
                <a:solidFill>
                  <a:srgbClr val="14141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Lead phrase</a:t>
            </a:r>
            <a:pPr algn="l" indent="0" marL="0">
              <a:lnSpc>
                <a:spcPct val="106875"/>
              </a:lnSpc>
              <a:buNone/>
            </a:pPr>
            <a:r>
              <a:rPr lang="en-US" sz="2850" spc="-37" kern="0" dirty="0">
                <a:solidFill>
                  <a:srgbClr val="14141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: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38300" y="3251729"/>
            <a:ext cx="9646761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13"/>
              </a:lnSpc>
              <a:buNone/>
            </a:pPr>
            <a:r>
              <a:rPr lang="en-US" sz="2550" spc="-37" kern="0" dirty="0">
                <a:solidFill>
                  <a:srgbClr val="44444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supporting clause that explains this point in plain language.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920052" y="4390893"/>
            <a:ext cx="6447896" cy="1790700"/>
          </a:xfrm>
          <a:prstGeom prst="roundRect">
            <a:avLst>
              <a:gd name="adj" fmla="val 6383"/>
            </a:avLst>
          </a:prstGeom>
          <a:solidFill>
            <a:srgbClr val="141417"/>
          </a:solidFill>
          <a:ln/>
        </p:spPr>
      </p:sp>
      <p:sp>
        <p:nvSpPr>
          <p:cNvPr id="8" name="Text 6"/>
          <p:cNvSpPr/>
          <p:nvPr/>
        </p:nvSpPr>
        <p:spPr>
          <a:xfrm>
            <a:off x="6356734" y="4771893"/>
            <a:ext cx="557453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579"/>
              </a:lnSpc>
              <a:buNone/>
            </a:pPr>
            <a:r>
              <a:rPr lang="en-US" sz="3000" b="1" spc="-37" kern="0" dirty="0">
                <a:solidFill>
                  <a:srgbClr val="E5FF01"/>
                </a:solidFill>
                <a:highlight>
                  <a:srgbClr val="141417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short emphasised takeaway → on a dark callout</a:t>
            </a:r>
            <a:endParaRPr lang="en-US" sz="3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90600"/>
            <a:ext cx="186080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COMPARISON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466850"/>
            <a:ext cx="186080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4500" b="1" spc="-12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 A vs Option B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685800" y="2609850"/>
            <a:ext cx="8296275" cy="5334000"/>
          </a:xfrm>
          <a:prstGeom prst="rect">
            <a:avLst/>
          </a:prstGeom>
          <a:solidFill>
            <a:srgbClr val="EFEFEE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105150"/>
            <a:ext cx="795242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92"/>
              </a:lnSpc>
              <a:buNone/>
            </a:pPr>
            <a:r>
              <a:rPr lang="en-US" sz="25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 A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219200" y="3800475"/>
            <a:ext cx="457200" cy="28575"/>
          </a:xfrm>
          <a:prstGeom prst="rect">
            <a:avLst/>
          </a:prstGeom>
          <a:solidFill>
            <a:srgbClr val="999EA6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4171950"/>
            <a:ext cx="7952423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932"/>
              </a:lnSpc>
              <a:buNone/>
            </a:pPr>
            <a:r>
              <a:rPr lang="en-US" sz="2025" spc="-37" kern="0" dirty="0">
                <a:solidFill>
                  <a:srgbClr val="44444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characteristic of the first option.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19200" y="4798616"/>
            <a:ext cx="7952423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932"/>
              </a:lnSpc>
              <a:buNone/>
            </a:pPr>
            <a:r>
              <a:rPr lang="en-US" sz="2025" spc="-37" kern="0" dirty="0">
                <a:solidFill>
                  <a:srgbClr val="44444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second characteristic, stated plainly.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19200" y="5425281"/>
            <a:ext cx="7952423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932"/>
              </a:lnSpc>
              <a:buNone/>
            </a:pPr>
            <a:r>
              <a:rPr lang="en-US" sz="2025" spc="-37" kern="0" dirty="0">
                <a:solidFill>
                  <a:srgbClr val="44444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limitation or trade-off to note.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8982075" y="2609850"/>
            <a:ext cx="8620125" cy="5334000"/>
          </a:xfrm>
          <a:prstGeom prst="rect">
            <a:avLst/>
          </a:prstGeom>
          <a:solidFill>
            <a:srgbClr val="141417"/>
          </a:solidFill>
          <a:ln/>
        </p:spPr>
      </p:sp>
      <p:sp>
        <p:nvSpPr>
          <p:cNvPr id="11" name="Text 9"/>
          <p:cNvSpPr/>
          <p:nvPr/>
        </p:nvSpPr>
        <p:spPr>
          <a:xfrm>
            <a:off x="9839325" y="3105150"/>
            <a:ext cx="795242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92"/>
              </a:lnSpc>
              <a:buNone/>
            </a:pPr>
            <a:r>
              <a:rPr lang="en-US" sz="2550" b="1" spc="-37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 B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839325" y="3800475"/>
            <a:ext cx="457200" cy="28575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3" name="Text 11"/>
          <p:cNvSpPr/>
          <p:nvPr/>
        </p:nvSpPr>
        <p:spPr>
          <a:xfrm>
            <a:off x="9839325" y="4171950"/>
            <a:ext cx="7952423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932"/>
              </a:lnSpc>
              <a:buNone/>
            </a:pPr>
            <a:r>
              <a:rPr lang="en-US" sz="2025" spc="-37" kern="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characteristic of the second option.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839325" y="4798616"/>
            <a:ext cx="7952423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932"/>
              </a:lnSpc>
              <a:buNone/>
            </a:pPr>
            <a:r>
              <a:rPr lang="en-US" sz="2025" spc="-37" kern="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second characteristic, stated plainly.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839325" y="5425281"/>
            <a:ext cx="7952423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932"/>
              </a:lnSpc>
              <a:buNone/>
            </a:pPr>
            <a:r>
              <a:rPr lang="en-US" sz="2025" spc="-37" kern="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An advantage worth highlighting.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8686800" y="4752975"/>
            <a:ext cx="914400" cy="104775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7" name="Text 15"/>
          <p:cNvSpPr/>
          <p:nvPr/>
        </p:nvSpPr>
        <p:spPr>
          <a:xfrm>
            <a:off x="8648700" y="4752975"/>
            <a:ext cx="9906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8125"/>
              </a:lnSpc>
              <a:buNone/>
            </a:pPr>
            <a:r>
              <a:rPr lang="en-US" sz="210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vs</a:t>
            </a:r>
            <a:endParaRPr lang="en-US" sz="2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SECTION LABEL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90650"/>
            <a:ext cx="9481136" cy="1359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43"/>
              </a:lnSpc>
              <a:buNone/>
            </a:pPr>
            <a:r>
              <a:rPr lang="en-US" sz="5100" b="1" spc="-15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short lead-in statement for these three points.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219200" y="3245115"/>
            <a:ext cx="5080000" cy="3128963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71450" dir="5400000">
              <a:srgbClr val="141417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00200" y="3664215"/>
            <a:ext cx="54107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3600" b="1" spc="-15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17473" y="3988065"/>
            <a:ext cx="323850" cy="3810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4597665"/>
            <a:ext cx="474980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77"/>
              </a:lnSpc>
              <a:buNone/>
            </a:pPr>
            <a:r>
              <a:rPr lang="en-US" sz="25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Point title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600200" y="5154877"/>
            <a:ext cx="444754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short supporting sentence that explains this point in plain language.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604000" y="3245115"/>
            <a:ext cx="5080000" cy="3128963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71450" dir="5400000">
              <a:srgbClr val="141417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85000" y="3664215"/>
            <a:ext cx="60602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3600" b="1" spc="-15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667228" y="3988065"/>
            <a:ext cx="323850" cy="3810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2" name="Text 10"/>
          <p:cNvSpPr/>
          <p:nvPr/>
        </p:nvSpPr>
        <p:spPr>
          <a:xfrm>
            <a:off x="6985000" y="4597665"/>
            <a:ext cx="474980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77"/>
              </a:lnSpc>
              <a:buNone/>
            </a:pPr>
            <a:r>
              <a:rPr lang="en-US" sz="25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Point title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985000" y="5154877"/>
            <a:ext cx="444754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short supporting sentence that explains this point in plain language.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988800" y="3245115"/>
            <a:ext cx="5080000" cy="3128963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71450" dir="5400000">
              <a:srgbClr val="141417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369800" y="3664215"/>
            <a:ext cx="61237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3600" b="1" spc="-15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3058379" y="3988065"/>
            <a:ext cx="323850" cy="3810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7" name="Text 15"/>
          <p:cNvSpPr/>
          <p:nvPr/>
        </p:nvSpPr>
        <p:spPr>
          <a:xfrm>
            <a:off x="12369800" y="4597665"/>
            <a:ext cx="474980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77"/>
              </a:lnSpc>
              <a:buNone/>
            </a:pPr>
            <a:r>
              <a:rPr lang="en-US" sz="25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Point title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369800" y="5154877"/>
            <a:ext cx="444754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short supporting sentence that explains this point in plain language.</a:t>
            </a:r>
            <a:endParaRPr lang="en-US" sz="2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RESULTS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71600"/>
            <a:ext cx="174345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4500" b="1" spc="-12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business impact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19200" y="2438400"/>
            <a:ext cx="95250" cy="912416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2438400"/>
            <a:ext cx="3046333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180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Deal entry times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62100" y="2750741"/>
            <a:ext cx="304633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413"/>
              </a:lnSpc>
              <a:buNone/>
            </a:pPr>
            <a:r>
              <a:rPr lang="en-US" sz="4500" b="1" spc="-15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80% faster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9572625" y="2438400"/>
            <a:ext cx="95250" cy="912416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8" name="Text 6"/>
          <p:cNvSpPr/>
          <p:nvPr/>
        </p:nvSpPr>
        <p:spPr>
          <a:xfrm>
            <a:off x="9915525" y="2438400"/>
            <a:ext cx="322154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180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Source-to-CRM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15525" y="2750741"/>
            <a:ext cx="322154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413"/>
              </a:lnSpc>
              <a:buNone/>
            </a:pPr>
            <a:r>
              <a:rPr lang="en-US" sz="4500" b="1" spc="-15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‹ 3 minutes</a:t>
            </a:r>
            <a:endParaRPr lang="en-US" sz="4500" dirty="0"/>
          </a:p>
        </p:txBody>
      </p:sp>
      <p:sp>
        <p:nvSpPr>
          <p:cNvPr id="10" name="Shape 8"/>
          <p:cNvSpPr/>
          <p:nvPr/>
        </p:nvSpPr>
        <p:spPr>
          <a:xfrm>
            <a:off x="1219200" y="3769916"/>
            <a:ext cx="8807715" cy="3595688"/>
          </a:xfrm>
          <a:prstGeom prst="roundRect">
            <a:avLst>
              <a:gd name="adj" fmla="val 3179"/>
            </a:avLst>
          </a:prstGeom>
          <a:solidFill>
            <a:srgbClr val="141417"/>
          </a:solidFill>
          <a:ln/>
        </p:spPr>
      </p:sp>
      <p:sp>
        <p:nvSpPr>
          <p:cNvPr id="11" name="Text 9"/>
          <p:cNvSpPr/>
          <p:nvPr/>
        </p:nvSpPr>
        <p:spPr>
          <a:xfrm>
            <a:off x="1504950" y="4062016"/>
            <a:ext cx="1351889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562"/>
              </a:lnSpc>
              <a:buNone/>
            </a:pPr>
            <a:r>
              <a:rPr lang="en-US" sz="1350" spc="-37" kern="0" dirty="0">
                <a:solidFill>
                  <a:srgbClr val="9499A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Quarterly volume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456605" y="4036616"/>
            <a:ext cx="3607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2"/>
              </a:lnSpc>
              <a:buNone/>
            </a:pPr>
            <a:r>
              <a:rPr lang="en-US" sz="1350" spc="150" kern="0" dirty="0">
                <a:solidFill>
                  <a:srgbClr val="5A5E6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•••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522538" y="4171871"/>
            <a:ext cx="456142" cy="342900"/>
          </a:xfrm>
          <a:prstGeom prst="roundRect">
            <a:avLst>
              <a:gd name="adj" fmla="val 16667"/>
            </a:avLst>
          </a:prstGeom>
          <a:solidFill>
            <a:srgbClr val="E5FF01"/>
          </a:solidFill>
          <a:ln/>
        </p:spPr>
      </p:sp>
      <p:sp>
        <p:nvSpPr>
          <p:cNvPr id="14" name="Text 12"/>
          <p:cNvSpPr/>
          <p:nvPr/>
        </p:nvSpPr>
        <p:spPr>
          <a:xfrm>
            <a:off x="2636838" y="4200446"/>
            <a:ext cx="3037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50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283883" y="5756936"/>
            <a:ext cx="247650" cy="1051454"/>
          </a:xfrm>
          <a:custGeom>
            <a:avLst/>
            <a:gdLst/>
            <a:ahLst/>
            <a:cxnLst/>
            <a:rect l="l" t="t" r="r" b="b"/>
            <a:pathLst>
              <a:path w="247650" h="1051454">
                <a:moveTo>
                  <a:pt x="28575" y="0"/>
                </a:moveTo>
                <a:lnTo>
                  <a:pt x="219075" y="0"/>
                </a:lnTo>
                <a:arcTo hR="28575" wR="28575" stAng="16200000" swAng="5400000"/>
                <a:lnTo>
                  <a:pt x="247650" y="1051454"/>
                </a:lnTo>
                <a:lnTo>
                  <a:pt x="0" y="1051454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E5FF01"/>
          </a:solidFill>
          <a:ln/>
        </p:spPr>
      </p:sp>
      <p:sp>
        <p:nvSpPr>
          <p:cNvPr id="16" name="Shape 14"/>
          <p:cNvSpPr/>
          <p:nvPr/>
        </p:nvSpPr>
        <p:spPr>
          <a:xfrm>
            <a:off x="2626783" y="5274866"/>
            <a:ext cx="247650" cy="1533525"/>
          </a:xfrm>
          <a:custGeom>
            <a:avLst/>
            <a:gdLst/>
            <a:ahLst/>
            <a:cxnLst/>
            <a:rect l="l" t="t" r="r" b="b"/>
            <a:pathLst>
              <a:path w="247650" h="1533525">
                <a:moveTo>
                  <a:pt x="28575" y="0"/>
                </a:moveTo>
                <a:lnTo>
                  <a:pt x="219075" y="0"/>
                </a:lnTo>
                <a:arcTo hR="28575" wR="28575" stAng="16200000" swAng="5400000"/>
                <a:lnTo>
                  <a:pt x="247650" y="1533525"/>
                </a:lnTo>
                <a:lnTo>
                  <a:pt x="0" y="1533525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C9CCC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69683" y="5976011"/>
            <a:ext cx="247650" cy="832379"/>
          </a:xfrm>
          <a:custGeom>
            <a:avLst/>
            <a:gdLst/>
            <a:ahLst/>
            <a:cxnLst/>
            <a:rect l="l" t="t" r="r" b="b"/>
            <a:pathLst>
              <a:path w="247650" h="832379">
                <a:moveTo>
                  <a:pt x="28575" y="0"/>
                </a:moveTo>
                <a:lnTo>
                  <a:pt x="219075" y="0"/>
                </a:lnTo>
                <a:arcTo hR="28575" wR="28575" stAng="16200000" swAng="5400000"/>
                <a:lnTo>
                  <a:pt x="247650" y="832379"/>
                </a:lnTo>
                <a:lnTo>
                  <a:pt x="0" y="832379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4A4D53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5648" y="4171871"/>
            <a:ext cx="454554" cy="342900"/>
          </a:xfrm>
          <a:prstGeom prst="roundRect">
            <a:avLst>
              <a:gd name="adj" fmla="val 16667"/>
            </a:avLst>
          </a:prstGeom>
          <a:solidFill>
            <a:srgbClr val="E5FF01"/>
          </a:solidFill>
          <a:ln/>
        </p:spPr>
      </p:sp>
      <p:sp>
        <p:nvSpPr>
          <p:cNvPr id="19" name="Text 17"/>
          <p:cNvSpPr/>
          <p:nvPr/>
        </p:nvSpPr>
        <p:spPr>
          <a:xfrm>
            <a:off x="5509948" y="4200446"/>
            <a:ext cx="3021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50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56200" y="5581650"/>
            <a:ext cx="247650" cy="1226741"/>
          </a:xfrm>
          <a:custGeom>
            <a:avLst/>
            <a:gdLst/>
            <a:ahLst/>
            <a:cxnLst/>
            <a:rect l="l" t="t" r="r" b="b"/>
            <a:pathLst>
              <a:path w="247650" h="1226741">
                <a:moveTo>
                  <a:pt x="28575" y="0"/>
                </a:moveTo>
                <a:lnTo>
                  <a:pt x="219075" y="0"/>
                </a:lnTo>
                <a:arcTo hR="28575" wR="28575" stAng="16200000" swAng="5400000"/>
                <a:lnTo>
                  <a:pt x="247650" y="1226741"/>
                </a:lnTo>
                <a:lnTo>
                  <a:pt x="0" y="1226741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E5FF01"/>
          </a:solidFill>
          <a:ln/>
        </p:spPr>
      </p:sp>
      <p:sp>
        <p:nvSpPr>
          <p:cNvPr id="21" name="Shape 19"/>
          <p:cNvSpPr/>
          <p:nvPr/>
        </p:nvSpPr>
        <p:spPr>
          <a:xfrm>
            <a:off x="5499100" y="5099711"/>
            <a:ext cx="247650" cy="1708679"/>
          </a:xfrm>
          <a:custGeom>
            <a:avLst/>
            <a:gdLst/>
            <a:ahLst/>
            <a:cxnLst/>
            <a:rect l="l" t="t" r="r" b="b"/>
            <a:pathLst>
              <a:path w="247650" h="1708679">
                <a:moveTo>
                  <a:pt x="28575" y="0"/>
                </a:moveTo>
                <a:lnTo>
                  <a:pt x="219075" y="0"/>
                </a:lnTo>
                <a:arcTo hR="28575" wR="28575" stAng="16200000" swAng="5400000"/>
                <a:lnTo>
                  <a:pt x="247650" y="1708679"/>
                </a:lnTo>
                <a:lnTo>
                  <a:pt x="0" y="1708679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C9CCCE"/>
          </a:solidFill>
          <a:ln/>
        </p:spPr>
      </p:sp>
      <p:sp>
        <p:nvSpPr>
          <p:cNvPr id="22" name="Shape 20"/>
          <p:cNvSpPr/>
          <p:nvPr/>
        </p:nvSpPr>
        <p:spPr>
          <a:xfrm>
            <a:off x="5842000" y="5800725"/>
            <a:ext cx="247650" cy="1007666"/>
          </a:xfrm>
          <a:custGeom>
            <a:avLst/>
            <a:gdLst/>
            <a:ahLst/>
            <a:cxnLst/>
            <a:rect l="l" t="t" r="r" b="b"/>
            <a:pathLst>
              <a:path w="247650" h="1007666">
                <a:moveTo>
                  <a:pt x="28575" y="0"/>
                </a:moveTo>
                <a:lnTo>
                  <a:pt x="219075" y="0"/>
                </a:lnTo>
                <a:arcTo hR="28575" wR="28575" stAng="16200000" swAng="5400000"/>
                <a:lnTo>
                  <a:pt x="247650" y="1007666"/>
                </a:lnTo>
                <a:lnTo>
                  <a:pt x="0" y="1007666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4A4D53"/>
          </a:solidFill>
          <a:ln/>
        </p:spPr>
      </p:sp>
      <p:sp>
        <p:nvSpPr>
          <p:cNvPr id="23" name="Shape 21"/>
          <p:cNvSpPr/>
          <p:nvPr/>
        </p:nvSpPr>
        <p:spPr>
          <a:xfrm>
            <a:off x="8275704" y="4171871"/>
            <a:ext cx="439341" cy="342900"/>
          </a:xfrm>
          <a:prstGeom prst="roundRect">
            <a:avLst>
              <a:gd name="adj" fmla="val 16667"/>
            </a:avLst>
          </a:prstGeom>
          <a:solidFill>
            <a:srgbClr val="E5FF01"/>
          </a:solidFill>
          <a:ln/>
        </p:spPr>
      </p:sp>
      <p:sp>
        <p:nvSpPr>
          <p:cNvPr id="24" name="Text 22"/>
          <p:cNvSpPr/>
          <p:nvPr/>
        </p:nvSpPr>
        <p:spPr>
          <a:xfrm>
            <a:off x="8390004" y="4200446"/>
            <a:ext cx="2869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50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67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28649" y="4968214"/>
            <a:ext cx="247650" cy="1840177"/>
          </a:xfrm>
          <a:custGeom>
            <a:avLst/>
            <a:gdLst/>
            <a:ahLst/>
            <a:cxnLst/>
            <a:rect l="l" t="t" r="r" b="b"/>
            <a:pathLst>
              <a:path w="247650" h="1840177">
                <a:moveTo>
                  <a:pt x="28575" y="0"/>
                </a:moveTo>
                <a:lnTo>
                  <a:pt x="219075" y="0"/>
                </a:lnTo>
                <a:arcTo hR="28575" wR="28575" stAng="16200000" swAng="5400000"/>
                <a:lnTo>
                  <a:pt x="247650" y="1840177"/>
                </a:lnTo>
                <a:lnTo>
                  <a:pt x="0" y="1840177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E5FF01"/>
          </a:solidFill>
          <a:ln/>
        </p:spPr>
      </p:sp>
      <p:sp>
        <p:nvSpPr>
          <p:cNvPr id="26" name="Shape 24"/>
          <p:cNvSpPr/>
          <p:nvPr/>
        </p:nvSpPr>
        <p:spPr>
          <a:xfrm>
            <a:off x="8371549" y="5362575"/>
            <a:ext cx="247650" cy="1445816"/>
          </a:xfrm>
          <a:custGeom>
            <a:avLst/>
            <a:gdLst/>
            <a:ahLst/>
            <a:cxnLst/>
            <a:rect l="l" t="t" r="r" b="b"/>
            <a:pathLst>
              <a:path w="247650" h="1445816">
                <a:moveTo>
                  <a:pt x="28575" y="0"/>
                </a:moveTo>
                <a:lnTo>
                  <a:pt x="219075" y="0"/>
                </a:lnTo>
                <a:arcTo hR="28575" wR="28575" stAng="16200000" swAng="5400000"/>
                <a:lnTo>
                  <a:pt x="247650" y="1445816"/>
                </a:lnTo>
                <a:lnTo>
                  <a:pt x="0" y="1445816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C9CCCE"/>
          </a:solidFill>
          <a:ln/>
        </p:spPr>
      </p:sp>
      <p:sp>
        <p:nvSpPr>
          <p:cNvPr id="27" name="Shape 25"/>
          <p:cNvSpPr/>
          <p:nvPr/>
        </p:nvSpPr>
        <p:spPr>
          <a:xfrm>
            <a:off x="8714449" y="5976011"/>
            <a:ext cx="247650" cy="832379"/>
          </a:xfrm>
          <a:custGeom>
            <a:avLst/>
            <a:gdLst/>
            <a:ahLst/>
            <a:cxnLst/>
            <a:rect l="l" t="t" r="r" b="b"/>
            <a:pathLst>
              <a:path w="247650" h="832379">
                <a:moveTo>
                  <a:pt x="28575" y="0"/>
                </a:moveTo>
                <a:lnTo>
                  <a:pt x="219075" y="0"/>
                </a:lnTo>
                <a:arcTo hR="28575" wR="28575" stAng="16200000" swAng="5400000"/>
                <a:lnTo>
                  <a:pt x="247650" y="832379"/>
                </a:lnTo>
                <a:lnTo>
                  <a:pt x="0" y="832379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4A4D53"/>
          </a:solidFill>
          <a:ln/>
        </p:spPr>
      </p:sp>
      <p:sp>
        <p:nvSpPr>
          <p:cNvPr id="28" name="Text 26"/>
          <p:cNvSpPr/>
          <p:nvPr/>
        </p:nvSpPr>
        <p:spPr>
          <a:xfrm>
            <a:off x="1380384" y="6922691"/>
            <a:ext cx="274044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562"/>
              </a:lnSpc>
              <a:buNone/>
            </a:pPr>
            <a:r>
              <a:rPr lang="en-US" sz="1125" spc="-37" kern="0" dirty="0">
                <a:solidFill>
                  <a:srgbClr val="6B6E75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Q1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4252694" y="6922691"/>
            <a:ext cx="274059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562"/>
              </a:lnSpc>
              <a:buNone/>
            </a:pPr>
            <a:r>
              <a:rPr lang="en-US" sz="1125" spc="-37" kern="0" dirty="0">
                <a:solidFill>
                  <a:srgbClr val="6B6E75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Q2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7125143" y="6922691"/>
            <a:ext cx="274059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562"/>
              </a:lnSpc>
              <a:buNone/>
            </a:pPr>
            <a:r>
              <a:rPr lang="en-US" sz="1125" spc="-37" kern="0" dirty="0">
                <a:solidFill>
                  <a:srgbClr val="6B6E75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Q3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10293615" y="3769916"/>
            <a:ext cx="6775185" cy="3595688"/>
          </a:xfrm>
          <a:prstGeom prst="roundRect">
            <a:avLst>
              <a:gd name="adj" fmla="val 3179"/>
            </a:avLst>
          </a:prstGeom>
          <a:solidFill>
            <a:srgbClr val="141417"/>
          </a:solidFill>
          <a:ln/>
        </p:spPr>
      </p:sp>
      <p:sp>
        <p:nvSpPr>
          <p:cNvPr id="32" name="Text 30"/>
          <p:cNvSpPr/>
          <p:nvPr/>
        </p:nvSpPr>
        <p:spPr>
          <a:xfrm>
            <a:off x="10579365" y="4062016"/>
            <a:ext cx="1161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562"/>
              </a:lnSpc>
              <a:buNone/>
            </a:pPr>
            <a:r>
              <a:rPr lang="en-US" sz="1350" spc="-37" kern="0" dirty="0">
                <a:solidFill>
                  <a:srgbClr val="9499A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Deals by stage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6498491" y="4036616"/>
            <a:ext cx="3607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2"/>
              </a:lnSpc>
              <a:buNone/>
            </a:pPr>
            <a:r>
              <a:rPr lang="en-US" sz="1350" spc="150" kern="0" dirty="0">
                <a:solidFill>
                  <a:srgbClr val="5A5E6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•••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0579365" y="4503341"/>
            <a:ext cx="1619250" cy="1619250"/>
          </a:xfrm>
          <a:prstGeom prst="ellipse">
            <a:avLst/>
          </a:prstGeom>
          <a:solidFill>
            <a:srgbClr val="E5FF01"/>
          </a:solidFill>
          <a:ln/>
        </p:spPr>
      </p:sp>
      <p:sp>
        <p:nvSpPr>
          <p:cNvPr id="35" name="Shape 33"/>
          <p:cNvSpPr/>
          <p:nvPr/>
        </p:nvSpPr>
        <p:spPr>
          <a:xfrm>
            <a:off x="10874640" y="4798616"/>
            <a:ext cx="1028700" cy="1028700"/>
          </a:xfrm>
          <a:prstGeom prst="ellipse">
            <a:avLst/>
          </a:prstGeom>
          <a:solidFill>
            <a:srgbClr val="141417"/>
          </a:solidFill>
          <a:ln/>
        </p:spPr>
      </p:sp>
      <p:sp>
        <p:nvSpPr>
          <p:cNvPr id="36" name="Shape 34"/>
          <p:cNvSpPr/>
          <p:nvPr/>
        </p:nvSpPr>
        <p:spPr>
          <a:xfrm>
            <a:off x="12427215" y="487005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E5FF01"/>
          </a:solidFill>
          <a:ln/>
        </p:spPr>
      </p:sp>
      <p:sp>
        <p:nvSpPr>
          <p:cNvPr id="37" name="Text 35"/>
          <p:cNvSpPr/>
          <p:nvPr/>
        </p:nvSpPr>
        <p:spPr>
          <a:xfrm>
            <a:off x="12655815" y="4832218"/>
            <a:ext cx="612378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728"/>
              </a:lnSpc>
              <a:buNone/>
            </a:pPr>
            <a:r>
              <a:rPr lang="en-US" sz="1275" spc="-37" kern="0" dirty="0">
                <a:solidFill>
                  <a:srgbClr val="C7CACE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Funded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13481579" y="4815284"/>
            <a:ext cx="56025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50"/>
              </a:lnSpc>
              <a:buNone/>
            </a:pPr>
            <a:r>
              <a:rPr lang="en-US" sz="1275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$135M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12427215" y="5246291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C9CCCE"/>
          </a:solidFill>
          <a:ln/>
        </p:spPr>
      </p:sp>
      <p:sp>
        <p:nvSpPr>
          <p:cNvPr id="40" name="Text 38"/>
          <p:cNvSpPr/>
          <p:nvPr/>
        </p:nvSpPr>
        <p:spPr>
          <a:xfrm>
            <a:off x="12655815" y="5208455"/>
            <a:ext cx="766763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728"/>
              </a:lnSpc>
              <a:buNone/>
            </a:pPr>
            <a:r>
              <a:rPr lang="en-US" sz="1275" spc="-37" kern="0" dirty="0">
                <a:solidFill>
                  <a:srgbClr val="C7CACE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Approved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13441627" y="5191522"/>
            <a:ext cx="60020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50"/>
              </a:lnSpc>
              <a:buNone/>
            </a:pPr>
            <a:r>
              <a:rPr lang="en-US" sz="1275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$21.5M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12427215" y="5622528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7D8088"/>
          </a:solidFill>
          <a:ln/>
        </p:spPr>
      </p:sp>
      <p:sp>
        <p:nvSpPr>
          <p:cNvPr id="43" name="Text 41"/>
          <p:cNvSpPr/>
          <p:nvPr/>
        </p:nvSpPr>
        <p:spPr>
          <a:xfrm>
            <a:off x="12655815" y="5584693"/>
            <a:ext cx="577321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728"/>
              </a:lnSpc>
              <a:buNone/>
            </a:pPr>
            <a:r>
              <a:rPr lang="en-US" sz="1275" spc="-37" kern="0" dirty="0">
                <a:solidFill>
                  <a:srgbClr val="C7CACE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Review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13649325" y="5567760"/>
            <a:ext cx="392509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50"/>
              </a:lnSpc>
              <a:buNone/>
            </a:pPr>
            <a:r>
              <a:rPr lang="en-US" sz="1275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$7M</a:t>
            </a:r>
            <a:endParaRPr lang="en-US" sz="1275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F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924300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141417">
                    <a:alpha val="60000"/>
                  </a:srgbClr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KEY TAKEAWAY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4533900"/>
            <a:ext cx="12168464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61"/>
              </a:lnSpc>
              <a:buNone/>
            </a:pPr>
            <a:r>
              <a:rPr lang="en-US" sz="7200" b="1" spc="-225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single bold statement that anchors the whole story.</a:t>
            </a:r>
            <a:endParaRPr lang="en-US" sz="7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430191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E5FF0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4058841"/>
            <a:ext cx="13385270" cy="283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26"/>
              </a:lnSpc>
              <a:buNone/>
            </a:pPr>
            <a:r>
              <a:rPr lang="en-US" sz="7200" b="1" spc="-22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Critical data is trapped in </a:t>
            </a:r>
            <a:pPr algn="l" indent="0" marL="0">
              <a:lnSpc>
                <a:spcPct val="79826"/>
              </a:lnSpc>
              <a:buNone/>
            </a:pPr>
            <a:r>
              <a:rPr lang="en-US" sz="7200" b="1" spc="-225" kern="0" dirty="0">
                <a:solidFill>
                  <a:srgbClr val="141417"/>
                </a:solidFill>
                <a:highlight>
                  <a:srgbClr val="E5FF01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documents </a:t>
            </a:r>
            <a:pPr algn="l" indent="0" marL="0">
              <a:lnSpc>
                <a:spcPct val="79826"/>
              </a:lnSpc>
              <a:buNone/>
            </a:pPr>
            <a:r>
              <a:rPr lang="en-US" sz="7200" b="1" spc="-22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nobody has time to read.</a:t>
            </a:r>
            <a:endParaRPr lang="en-US" sz="7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032919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BY THE NUMBERS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604419"/>
            <a:ext cx="17183100" cy="1790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72125"/>
              </a:lnSpc>
              <a:buNone/>
            </a:pPr>
            <a:r>
              <a:rPr lang="en-US" sz="15000" b="1" spc="-525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pPr algn="l" indent="0" marL="0">
              <a:lnSpc>
                <a:spcPct val="72125"/>
              </a:lnSpc>
              <a:buNone/>
            </a:pPr>
            <a:r>
              <a:rPr lang="en-US" sz="15000" b="1" spc="-52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hrs → 12 min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333500" y="5814219"/>
            <a:ext cx="6664633" cy="147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700" spc="-37" kern="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 time it takes to turn a stack of raw documents into clean, structured records your team can use.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340504"/>
            <a:ext cx="914400" cy="91440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2340504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78261"/>
              </a:lnSpc>
              <a:buNone/>
            </a:pPr>
            <a:r>
              <a:rPr lang="en-US" sz="720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33500" y="3635904"/>
            <a:ext cx="11845799" cy="3110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31"/>
              </a:lnSpc>
              <a:buNone/>
            </a:pPr>
            <a:r>
              <a:rPr lang="en-US" sz="5400" spc="-135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Kin gave our team back a full day every week — and the data flowing into our systems is finally something we trust.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33500" y="7165446"/>
            <a:ext cx="171831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Director of Operations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33500" y="7632171"/>
            <a:ext cx="171831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Operations team, mid-market company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90650"/>
            <a:ext cx="174345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4500" b="1" spc="-12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document to decision, in three steps.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19200" y="2686050"/>
            <a:ext cx="800100" cy="923925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686050"/>
            <a:ext cx="876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8125"/>
              </a:lnSpc>
              <a:buNone/>
            </a:pPr>
            <a:r>
              <a:rPr lang="en-US" sz="31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2209800" y="3143250"/>
            <a:ext cx="3937000" cy="9525"/>
          </a:xfrm>
          <a:prstGeom prst="rect">
            <a:avLst/>
          </a:prstGeom>
          <a:solidFill>
            <a:srgbClr val="D4D5D6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895725"/>
            <a:ext cx="542036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38"/>
              </a:lnSpc>
              <a:buNone/>
            </a:pPr>
            <a:r>
              <a:rPr lang="en-US" sz="3150" b="1" spc="-75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Ingest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219200" y="4548188"/>
            <a:ext cx="5075428" cy="783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37"/>
              </a:lnSpc>
              <a:buNone/>
            </a:pPr>
            <a:r>
              <a:rPr lang="en-US" sz="2025" spc="-37" kern="0" dirty="0">
                <a:solidFill>
                  <a:srgbClr val="44444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Drop in PDFs, emails, or scans. Kin reads every page the moment it lands.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680200" y="2686050"/>
            <a:ext cx="800100" cy="923925"/>
          </a:xfrm>
          <a:prstGeom prst="rect">
            <a:avLst/>
          </a:prstGeom>
          <a:solidFill>
            <a:srgbClr val="141417"/>
          </a:solidFill>
          <a:ln/>
        </p:spPr>
      </p:sp>
      <p:sp>
        <p:nvSpPr>
          <p:cNvPr id="10" name="Text 8"/>
          <p:cNvSpPr/>
          <p:nvPr/>
        </p:nvSpPr>
        <p:spPr>
          <a:xfrm>
            <a:off x="6642100" y="2686050"/>
            <a:ext cx="876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8125"/>
              </a:lnSpc>
              <a:buNone/>
            </a:pPr>
            <a:r>
              <a:rPr lang="en-US" sz="3150" b="1" spc="-37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7670800" y="3143250"/>
            <a:ext cx="3937000" cy="9525"/>
          </a:xfrm>
          <a:prstGeom prst="rect">
            <a:avLst/>
          </a:prstGeom>
          <a:solidFill>
            <a:srgbClr val="D4D5D6"/>
          </a:solidFill>
          <a:ln/>
        </p:spPr>
      </p:sp>
      <p:sp>
        <p:nvSpPr>
          <p:cNvPr id="12" name="Text 10"/>
          <p:cNvSpPr/>
          <p:nvPr/>
        </p:nvSpPr>
        <p:spPr>
          <a:xfrm>
            <a:off x="6680200" y="3895725"/>
            <a:ext cx="542036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38"/>
              </a:lnSpc>
              <a:buNone/>
            </a:pPr>
            <a:r>
              <a:rPr lang="en-US" sz="3150" b="1" spc="-75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Structure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6680200" y="4548188"/>
            <a:ext cx="5075428" cy="1156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37"/>
              </a:lnSpc>
              <a:buNone/>
            </a:pPr>
            <a:r>
              <a:rPr lang="en-US" sz="2025" spc="-37" kern="0" dirty="0">
                <a:solidFill>
                  <a:srgbClr val="44444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Figures are extracted, validated, and mapped to your fields — with every source cited.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2141200" y="2686050"/>
            <a:ext cx="800100" cy="923925"/>
          </a:xfrm>
          <a:prstGeom prst="rect">
            <a:avLst/>
          </a:prstGeom>
          <a:solidFill>
            <a:srgbClr val="999EA6"/>
          </a:solidFill>
          <a:ln/>
        </p:spPr>
      </p:sp>
      <p:sp>
        <p:nvSpPr>
          <p:cNvPr id="15" name="Text 13"/>
          <p:cNvSpPr/>
          <p:nvPr/>
        </p:nvSpPr>
        <p:spPr>
          <a:xfrm>
            <a:off x="12103100" y="2686050"/>
            <a:ext cx="876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8125"/>
              </a:lnSpc>
              <a:buNone/>
            </a:pPr>
            <a:r>
              <a:rPr lang="en-US" sz="31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3150" dirty="0"/>
          </a:p>
        </p:txBody>
      </p:sp>
      <p:sp>
        <p:nvSpPr>
          <p:cNvPr id="16" name="Shape 14"/>
          <p:cNvSpPr/>
          <p:nvPr/>
        </p:nvSpPr>
        <p:spPr>
          <a:xfrm>
            <a:off x="13131800" y="3143250"/>
            <a:ext cx="3937000" cy="9525"/>
          </a:xfrm>
          <a:prstGeom prst="rect">
            <a:avLst/>
          </a:prstGeom>
          <a:solidFill>
            <a:srgbClr val="D4D5D6"/>
          </a:solidFill>
          <a:ln/>
        </p:spPr>
      </p:sp>
      <p:sp>
        <p:nvSpPr>
          <p:cNvPr id="17" name="Text 15"/>
          <p:cNvSpPr/>
          <p:nvPr/>
        </p:nvSpPr>
        <p:spPr>
          <a:xfrm>
            <a:off x="12141200" y="3895725"/>
            <a:ext cx="542036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38"/>
              </a:lnSpc>
              <a:buNone/>
            </a:pPr>
            <a:r>
              <a:rPr lang="en-US" sz="3150" b="1" spc="-75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Sync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12141200" y="4548188"/>
            <a:ext cx="5075428" cy="783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37"/>
              </a:lnSpc>
              <a:buNone/>
            </a:pPr>
            <a:r>
              <a:rPr lang="en-US" sz="2025" spc="-37" kern="0" dirty="0">
                <a:solidFill>
                  <a:srgbClr val="444444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Clean records flow straight into your systems, ready for the team to act on.</a:t>
            </a:r>
            <a:endParaRPr lang="en-US" sz="2025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WHERE WE’RE HEADED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90650"/>
            <a:ext cx="174345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4500" b="1" spc="-12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road ahead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19200" y="2867025"/>
            <a:ext cx="158496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19200" y="2743200"/>
            <a:ext cx="266700" cy="26670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3238500"/>
            <a:ext cx="404431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b="1" spc="-37" kern="0" dirty="0">
                <a:solidFill>
                  <a:srgbClr val="E5FF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19200" y="3724275"/>
            <a:ext cx="4044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Document intelligence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9200" y="4200525"/>
            <a:ext cx="3786950" cy="673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28"/>
              </a:lnSpc>
              <a:buNone/>
            </a:pPr>
            <a:r>
              <a:rPr lang="en-US" sz="1725" spc="-37" kern="0" dirty="0">
                <a:solidFill>
                  <a:srgbClr val="9499A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Automated extraction and structured output, live for teams today.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5276850" y="2743200"/>
            <a:ext cx="266700" cy="266700"/>
          </a:xfrm>
          <a:prstGeom prst="rect">
            <a:avLst/>
          </a:prstGeom>
          <a:solidFill>
            <a:srgbClr val="C9CCCE"/>
          </a:solidFill>
          <a:ln/>
        </p:spPr>
      </p:sp>
      <p:sp>
        <p:nvSpPr>
          <p:cNvPr id="10" name="Text 8"/>
          <p:cNvSpPr/>
          <p:nvPr/>
        </p:nvSpPr>
        <p:spPr>
          <a:xfrm>
            <a:off x="5276850" y="3238500"/>
            <a:ext cx="404431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276850" y="3724275"/>
            <a:ext cx="4044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Trend signals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76850" y="4200525"/>
            <a:ext cx="3786950" cy="673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28"/>
              </a:lnSpc>
              <a:buNone/>
            </a:pPr>
            <a:r>
              <a:rPr lang="en-US" sz="1725" spc="-37" kern="0" dirty="0">
                <a:solidFill>
                  <a:srgbClr val="9499A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Surface risk and opportunity across all your data automatically.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334500" y="2743200"/>
            <a:ext cx="266700" cy="266700"/>
          </a:xfrm>
          <a:prstGeom prst="rect">
            <a:avLst/>
          </a:prstGeom>
          <a:solidFill>
            <a:srgbClr val="5A5E66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0" y="3238500"/>
            <a:ext cx="404431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Later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334500" y="3724275"/>
            <a:ext cx="4044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Predictive scoring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34500" y="4200525"/>
            <a:ext cx="3786950" cy="673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28"/>
              </a:lnSpc>
              <a:buNone/>
            </a:pPr>
            <a:r>
              <a:rPr lang="en-US" sz="1725" spc="-37" kern="0" dirty="0">
                <a:solidFill>
                  <a:srgbClr val="9499A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Likelihood-to-close estimates grounded in your own historical data.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13392150" y="2743200"/>
            <a:ext cx="266700" cy="266700"/>
          </a:xfrm>
          <a:prstGeom prst="rect">
            <a:avLst/>
          </a:prstGeom>
          <a:solidFill>
            <a:srgbClr val="5A5E66"/>
          </a:solidFill>
          <a:ln/>
        </p:spPr>
      </p:sp>
      <p:sp>
        <p:nvSpPr>
          <p:cNvPr id="18" name="Text 16"/>
          <p:cNvSpPr/>
          <p:nvPr/>
        </p:nvSpPr>
        <p:spPr>
          <a:xfrm>
            <a:off x="13392150" y="3238500"/>
            <a:ext cx="404431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392150" y="3724275"/>
            <a:ext cx="4044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knowledge copilot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392150" y="4200525"/>
            <a:ext cx="3786950" cy="673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28"/>
              </a:lnSpc>
              <a:buNone/>
            </a:pPr>
            <a:r>
              <a:rPr lang="en-US" sz="1725" spc="-37" kern="0" dirty="0">
                <a:solidFill>
                  <a:srgbClr val="9499A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Ask any question about your data and get a sourced answer in seconds.</a:t>
            </a:r>
            <a:endParaRPr lang="en-US" sz="1725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ONE SYSTEM, TWO SURFACES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90650"/>
            <a:ext cx="174345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4500" b="1" spc="-12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for light and dark.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19200" y="2609850"/>
            <a:ext cx="8015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500" b="1" spc="330" kern="0" dirty="0">
                <a:solidFill>
                  <a:srgbClr val="999E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LIGHT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77905" y="2747963"/>
            <a:ext cx="6875595" cy="9525"/>
          </a:xfrm>
          <a:prstGeom prst="rect">
            <a:avLst/>
          </a:prstGeom>
          <a:solidFill>
            <a:srgbClr val="D4D5D6"/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3086100"/>
            <a:ext cx="7734300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676400" y="3543300"/>
            <a:ext cx="702449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3000" b="1" spc="-75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Clear insights, better stories.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76400" y="4914900"/>
            <a:ext cx="70244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 same components, the same tokens — the theme flips with one attribute.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76400" y="6010275"/>
            <a:ext cx="1679046" cy="619125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0" name="Text 8"/>
          <p:cNvSpPr/>
          <p:nvPr/>
        </p:nvSpPr>
        <p:spPr>
          <a:xfrm>
            <a:off x="1962150" y="6162675"/>
            <a:ext cx="11837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58"/>
              </a:lnSpc>
              <a:buNone/>
            </a:pPr>
            <a:r>
              <a:rPr lang="en-US" sz="16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 started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545946" y="6162675"/>
            <a:ext cx="11571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58"/>
              </a:lnSpc>
              <a:buNone/>
            </a:pPr>
            <a:r>
              <a:rPr lang="en-US" sz="1650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 more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34500" y="2609850"/>
            <a:ext cx="7287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500" b="1" spc="330" kern="0" dirty="0">
                <a:solidFill>
                  <a:srgbClr val="999E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DARK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120445" y="2747963"/>
            <a:ext cx="6948356" cy="9525"/>
          </a:xfrm>
          <a:prstGeom prst="rect">
            <a:avLst/>
          </a:prstGeom>
          <a:solidFill>
            <a:srgbClr val="D4D5D6"/>
          </a:solidFill>
          <a:ln/>
        </p:spPr>
      </p:sp>
      <p:sp>
        <p:nvSpPr>
          <p:cNvPr id="14" name="Shape 12"/>
          <p:cNvSpPr/>
          <p:nvPr/>
        </p:nvSpPr>
        <p:spPr>
          <a:xfrm>
            <a:off x="9334500" y="3086100"/>
            <a:ext cx="7734300" cy="4000500"/>
          </a:xfrm>
          <a:prstGeom prst="roundRect">
            <a:avLst>
              <a:gd name="adj" fmla="val 2857"/>
            </a:avLst>
          </a:prstGeom>
          <a:solidFill>
            <a:srgbClr val="141417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700" y="3543300"/>
            <a:ext cx="702449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3000" b="1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Clear insights, better stories.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791700" y="4914900"/>
            <a:ext cx="70244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-37" kern="0" dirty="0">
                <a:solidFill>
                  <a:srgbClr val="9499A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 same components, the same tokens — the theme flips with one attribute.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791700" y="6010275"/>
            <a:ext cx="1679046" cy="619125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77450" y="6162675"/>
            <a:ext cx="11837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58"/>
              </a:lnSpc>
              <a:buNone/>
            </a:pPr>
            <a:r>
              <a:rPr lang="en-US" sz="16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 started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661246" y="6162675"/>
            <a:ext cx="11571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58"/>
              </a:lnSpc>
              <a:buNone/>
            </a:pPr>
            <a:r>
              <a:rPr lang="en-US" sz="1650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 more</a:t>
            </a:r>
            <a:endParaRPr lang="en-US" sz="16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 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90650"/>
            <a:ext cx="174345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4500" b="1" spc="-12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Who’s behind Kin.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19200" y="2686050"/>
            <a:ext cx="3733800" cy="3581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41417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9200" y="2686050"/>
            <a:ext cx="3733800" cy="2247900"/>
          </a:xfrm>
          <a:prstGeom prst="rect">
            <a:avLst/>
          </a:prstGeom>
          <a:solidFill>
            <a:srgbClr val="2223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3284" r="3284" t="0" b="0"/>
          <a:stretch/>
        </p:blipFill>
        <p:spPr>
          <a:xfrm>
            <a:off x="1219200" y="2686050"/>
            <a:ext cx="3733800" cy="2247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5900" y="5181600"/>
            <a:ext cx="35204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Founder name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85900" y="5667375"/>
            <a:ext cx="35204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Co-founder &amp; CEO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257800" y="2686050"/>
            <a:ext cx="3733800" cy="3581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41417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57800" y="2686050"/>
            <a:ext cx="3733800" cy="2247900"/>
          </a:xfrm>
          <a:prstGeom prst="rect">
            <a:avLst/>
          </a:prstGeom>
          <a:solidFill>
            <a:srgbClr val="2223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3284" r="3284" t="0" b="0"/>
          <a:stretch/>
        </p:blipFill>
        <p:spPr>
          <a:xfrm>
            <a:off x="5257800" y="2686050"/>
            <a:ext cx="3733800" cy="2247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24500" y="5181600"/>
            <a:ext cx="35204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Founder name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5524500" y="5667375"/>
            <a:ext cx="35204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Co-founder &amp; CTO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9296400" y="2686050"/>
            <a:ext cx="3733800" cy="3581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41417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96400" y="2686050"/>
            <a:ext cx="3733800" cy="2247900"/>
          </a:xfrm>
          <a:prstGeom prst="rect">
            <a:avLst/>
          </a:prstGeom>
          <a:solidFill>
            <a:srgbClr val="2223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3284" r="3284" t="0" b="0"/>
          <a:stretch/>
        </p:blipFill>
        <p:spPr>
          <a:xfrm>
            <a:off x="9296400" y="2686050"/>
            <a:ext cx="3733800" cy="2247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63100" y="5181600"/>
            <a:ext cx="35204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 member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9563100" y="5667375"/>
            <a:ext cx="35204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Head of Product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13335000" y="2686050"/>
            <a:ext cx="3733800" cy="3581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41417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3335000" y="2686050"/>
            <a:ext cx="3733800" cy="2247900"/>
          </a:xfrm>
          <a:prstGeom prst="rect">
            <a:avLst/>
          </a:prstGeom>
          <a:solidFill>
            <a:srgbClr val="2223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3284" r="3284" t="0" b="0"/>
          <a:stretch/>
        </p:blipFill>
        <p:spPr>
          <a:xfrm>
            <a:off x="13335000" y="2686050"/>
            <a:ext cx="3733800" cy="2247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601700" y="5181600"/>
            <a:ext cx="35204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733"/>
              </a:lnSpc>
              <a:buNone/>
            </a:pPr>
            <a:r>
              <a:rPr lang="en-US" sz="22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 member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13601700" y="5667375"/>
            <a:ext cx="35204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Head of Engineering</a:t>
            </a:r>
            <a:endParaRPr lang="en-US" sz="16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INTEGRATIONS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90650"/>
            <a:ext cx="912631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4500" b="1" spc="-120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Fits where your data already lives.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19200" y="2933700"/>
            <a:ext cx="10367102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53"/>
              </a:lnSpc>
              <a:buNone/>
            </a:pPr>
            <a:r>
              <a:rPr lang="en-US" sz="210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 connects to the systems your team uses every day — no migration, no new place to check.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219200" y="4213754"/>
            <a:ext cx="3762375" cy="2286000"/>
          </a:xfrm>
          <a:prstGeom prst="roundRect">
            <a:avLst>
              <a:gd name="adj" fmla="val 5000"/>
            </a:avLst>
          </a:prstGeom>
          <a:solidFill>
            <a:srgbClr val="EFEF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" y="459475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62100" y="5261504"/>
            <a:ext cx="338423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92"/>
              </a:lnSpc>
              <a:buNone/>
            </a:pPr>
            <a:r>
              <a:rPr lang="en-US" sz="25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Salesforce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562100" y="5804429"/>
            <a:ext cx="33842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Two-way sync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248275" y="4213754"/>
            <a:ext cx="3762375" cy="2286000"/>
          </a:xfrm>
          <a:prstGeom prst="roundRect">
            <a:avLst>
              <a:gd name="adj" fmla="val 5000"/>
            </a:avLst>
          </a:prstGeom>
          <a:solidFill>
            <a:srgbClr val="EFEF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1175" y="459475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91175" y="5261504"/>
            <a:ext cx="338423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92"/>
              </a:lnSpc>
              <a:buNone/>
            </a:pPr>
            <a:r>
              <a:rPr lang="en-US" sz="25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HubSpot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5591175" y="5804429"/>
            <a:ext cx="33842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Two-way sync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9277350" y="4213754"/>
            <a:ext cx="3762375" cy="2286000"/>
          </a:xfrm>
          <a:prstGeom prst="roundRect">
            <a:avLst>
              <a:gd name="adj" fmla="val 5000"/>
            </a:avLst>
          </a:prstGeom>
          <a:solidFill>
            <a:srgbClr val="EFEFE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0250" y="459475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20250" y="5261504"/>
            <a:ext cx="338423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92"/>
              </a:lnSpc>
              <a:buNone/>
            </a:pPr>
            <a:r>
              <a:rPr lang="en-US" sz="25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Email &amp; inbox</a:t>
            </a:r>
            <a:endParaRPr lang="en-US" sz="2550" dirty="0"/>
          </a:p>
        </p:txBody>
      </p:sp>
      <p:sp>
        <p:nvSpPr>
          <p:cNvPr id="16" name="Text 11"/>
          <p:cNvSpPr/>
          <p:nvPr/>
        </p:nvSpPr>
        <p:spPr>
          <a:xfrm>
            <a:off x="9620250" y="5804429"/>
            <a:ext cx="33842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Auto-ingest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13306425" y="4213754"/>
            <a:ext cx="3762375" cy="2286000"/>
          </a:xfrm>
          <a:prstGeom prst="roundRect">
            <a:avLst>
              <a:gd name="adj" fmla="val 5000"/>
            </a:avLst>
          </a:prstGeom>
          <a:solidFill>
            <a:srgbClr val="EFEFE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49325" y="459475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649325" y="5261504"/>
            <a:ext cx="338423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92"/>
              </a:lnSpc>
              <a:buNone/>
            </a:pPr>
            <a:r>
              <a:rPr lang="en-US" sz="2550" b="1" spc="-37" kern="0" dirty="0">
                <a:solidFill>
                  <a:srgbClr val="1414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 API</a:t>
            </a:r>
            <a:endParaRPr lang="en-US" sz="2550" dirty="0"/>
          </a:p>
        </p:txBody>
      </p:sp>
      <p:sp>
        <p:nvSpPr>
          <p:cNvPr id="20" name="Text 14"/>
          <p:cNvSpPr/>
          <p:nvPr/>
        </p:nvSpPr>
        <p:spPr>
          <a:xfrm>
            <a:off x="13649325" y="5804429"/>
            <a:ext cx="33842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spc="-37" kern="0" dirty="0">
                <a:solidFill>
                  <a:srgbClr val="666A7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Build your own</a:t>
            </a:r>
            <a:endParaRPr lang="en-US" sz="16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b="1" spc="432" kern="0" dirty="0">
                <a:solidFill>
                  <a:srgbClr val="E5FF0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SECURITY &amp; TRUST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90650"/>
            <a:ext cx="912631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4500" b="1" spc="-12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data never leaves your control.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19200" y="3409950"/>
            <a:ext cx="495300" cy="57150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5" name="Text 3"/>
          <p:cNvSpPr/>
          <p:nvPr/>
        </p:nvSpPr>
        <p:spPr>
          <a:xfrm>
            <a:off x="1962150" y="3371850"/>
            <a:ext cx="748093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77"/>
              </a:lnSpc>
              <a:buNone/>
            </a:pPr>
            <a:r>
              <a:rPr lang="en-US" sz="25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Encrypted end to end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962150" y="3871913"/>
            <a:ext cx="7004876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800" spc="-37" kern="0" dirty="0">
                <a:solidFill>
                  <a:srgbClr val="9499A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Documents are encrypted in transit and at rest with industry-standard AES-256.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0" y="3409950"/>
            <a:ext cx="495300" cy="57150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8" name="Text 6"/>
          <p:cNvSpPr/>
          <p:nvPr/>
        </p:nvSpPr>
        <p:spPr>
          <a:xfrm>
            <a:off x="10267950" y="3371850"/>
            <a:ext cx="748093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77"/>
              </a:lnSpc>
              <a:buNone/>
            </a:pPr>
            <a:r>
              <a:rPr lang="en-US" sz="25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SOC 2 Type II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267950" y="3871913"/>
            <a:ext cx="7004876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800" spc="-37" kern="0" dirty="0">
                <a:solidFill>
                  <a:srgbClr val="9499A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Independently audited controls across security, availability, and confidentiality.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19200" y="4953794"/>
            <a:ext cx="495300" cy="57150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1" name="Text 9"/>
          <p:cNvSpPr/>
          <p:nvPr/>
        </p:nvSpPr>
        <p:spPr>
          <a:xfrm>
            <a:off x="1962150" y="4915694"/>
            <a:ext cx="748093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77"/>
              </a:lnSpc>
              <a:buNone/>
            </a:pPr>
            <a:r>
              <a:rPr lang="en-US" sz="25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audit trail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962150" y="5415756"/>
            <a:ext cx="7004876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800" spc="-37" kern="0" dirty="0">
                <a:solidFill>
                  <a:srgbClr val="9499A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Every extracted figure links back to its exact source page, citable on demand.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0" y="4953794"/>
            <a:ext cx="495300" cy="571500"/>
          </a:xfrm>
          <a:prstGeom prst="rect">
            <a:avLst/>
          </a:prstGeom>
          <a:solidFill>
            <a:srgbClr val="E5FF01"/>
          </a:solidFill>
          <a:ln/>
        </p:spPr>
      </p:sp>
      <p:sp>
        <p:nvSpPr>
          <p:cNvPr id="14" name="Text 12"/>
          <p:cNvSpPr/>
          <p:nvPr/>
        </p:nvSpPr>
        <p:spPr>
          <a:xfrm>
            <a:off x="10267950" y="4915694"/>
            <a:ext cx="748093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77"/>
              </a:lnSpc>
              <a:buNone/>
            </a:pPr>
            <a:r>
              <a:rPr lang="en-US" sz="255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own your data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267950" y="5415756"/>
            <a:ext cx="7004876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800" spc="-37" kern="0" dirty="0">
                <a:solidFill>
                  <a:srgbClr val="9499A1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No training on your records, no third-party sharing — export everything any time.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72625"/>
            <a:ext cx="2185326" cy="5715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807267" y="9658350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999EA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2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417">
                  <a:alpha val="45000"/>
                </a:srgbClr>
              </a:gs>
              <a:gs pos="100000">
                <a:srgbClr val="141417">
                  <a:alpha val="60000"/>
                </a:srgbClr>
              </a:gs>
            </a:gsLst>
            <a:lin ang="5400000" scaled="0"/>
          </a:gra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4020344"/>
            <a:ext cx="8572500" cy="224631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335595" y="8953500"/>
            <a:ext cx="495300" cy="495300"/>
          </a:xfrm>
          <a:prstGeom prst="ellipse">
            <a:avLst/>
          </a:prstGeom>
          <a:solidFill>
            <a:srgbClr val="E5FF01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9420" y="9077325"/>
            <a:ext cx="247650" cy="2476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02345" y="9001125"/>
            <a:ext cx="21420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kinanalytics.com</a:t>
            </a:r>
            <a:endParaRPr lang="en-US" sz="2100" dirty="0"/>
          </a:p>
        </p:txBody>
      </p:sp>
      <p:sp>
        <p:nvSpPr>
          <p:cNvPr id="8" name="Shape 3"/>
          <p:cNvSpPr/>
          <p:nvPr/>
        </p:nvSpPr>
        <p:spPr>
          <a:xfrm>
            <a:off x="8092678" y="8953500"/>
            <a:ext cx="495300" cy="495300"/>
          </a:xfrm>
          <a:prstGeom prst="ellipse">
            <a:avLst/>
          </a:prstGeom>
          <a:solidFill>
            <a:srgbClr val="E5FF01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6503" y="9077325"/>
            <a:ext cx="247650" cy="2476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759428" y="9001125"/>
            <a:ext cx="178699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@kinanalytics</a:t>
            </a:r>
            <a:endParaRPr lang="en-US" sz="2100" dirty="0"/>
          </a:p>
        </p:txBody>
      </p:sp>
      <p:sp>
        <p:nvSpPr>
          <p:cNvPr id="11" name="Shape 5"/>
          <p:cNvSpPr/>
          <p:nvPr/>
        </p:nvSpPr>
        <p:spPr>
          <a:xfrm>
            <a:off x="11526970" y="8953500"/>
            <a:ext cx="495300" cy="495300"/>
          </a:xfrm>
          <a:prstGeom prst="ellipse">
            <a:avLst/>
          </a:prstGeom>
          <a:solidFill>
            <a:srgbClr val="E5FF01"/>
          </a:solidFill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50795" y="9077325"/>
            <a:ext cx="247650" cy="2476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193720" y="9001125"/>
            <a:ext cx="193455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42"/>
              </a:lnSpc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@kin-analytics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2026-08-03T14:55:20Z</dcterms:created>
  <dcterms:modified xsi:type="dcterms:W3CDTF">2026-08-03T14:55:20Z</dcterms:modified>
</cp:coreProperties>
</file>