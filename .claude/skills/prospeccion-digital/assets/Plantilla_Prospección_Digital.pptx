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70" r:id="rId11"/>
    <p:sldId id="284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</p:sldIdLst>
  <p:sldSz cx="9144000" cy="5143500" type="screen16x9"/>
  <p:notesSz cx="6858000" cy="9144000"/>
  <p:embeddedFontLst>
    <p:embeddedFont>
      <p:font typeface="Albert Sans" panose="020B0604020202020204" charset="0"/>
      <p:regular r:id="rId25"/>
      <p:bold r:id="rId26"/>
      <p:italic r:id="rId27"/>
      <p:boldItalic r:id="rId28"/>
    </p:embeddedFont>
    <p:embeddedFont>
      <p:font typeface="Albert Sans Medium" panose="020B0604020202020204" charset="0"/>
      <p:regular r:id="rId29"/>
      <p:bold r:id="rId30"/>
      <p:italic r:id="rId31"/>
      <p:boldItalic r:id="rId32"/>
    </p:embeddedFont>
    <p:embeddedFont>
      <p:font typeface="Albert Sans SemiBold" panose="020B0604020202020204" charset="0"/>
      <p:regular r:id="rId33"/>
      <p:bold r:id="rId34"/>
      <p:italic r:id="rId35"/>
      <p:boldItalic r:id="rId36"/>
    </p:embeddedFont>
    <p:embeddedFont>
      <p:font typeface="Roboto" panose="02000000000000000000" pitchFamily="2" charset="0"/>
      <p:regular r:id="rId37"/>
      <p:bold r:id="rId38"/>
      <p:italic r:id="rId39"/>
      <p:boldItalic r:id="rId40"/>
    </p:embeddedFont>
    <p:embeddedFont>
      <p:font typeface="Space Grotesk" panose="020B0604020202020204" charset="0"/>
      <p:regular r:id="rId41"/>
      <p:bold r:id="rId42"/>
    </p:embeddedFont>
    <p:embeddedFont>
      <p:font typeface="Space Grotesk Medium" panose="020B0604020202020204" charset="0"/>
      <p:regular r:id="rId43"/>
      <p:bold r:id="rId44"/>
    </p:embeddedFont>
    <p:embeddedFont>
      <p:font typeface="Work Sans" pitchFamily="2" charset="0"/>
      <p:regular r:id="rId45"/>
      <p:bold r:id="rId46"/>
      <p:italic r:id="rId47"/>
      <p:boldItalic r:id="rId48"/>
    </p:embeddedFont>
    <p:embeddedFont>
      <p:font typeface="Work Sans Black" pitchFamily="2" charset="0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FC6017F-39DB-4332-BA6A-24E407F8C955}">
  <a:tblStyle styleId="{DFC6017F-39DB-4332-BA6A-24E407F8C9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font" Target="fonts/font23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font" Target="fonts/font21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font" Target="fonts/font24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font" Target="fonts/font22.fntdata"/><Relationship Id="rId20" Type="http://schemas.openxmlformats.org/officeDocument/2006/relationships/slide" Target="slides/slide19.xml"/><Relationship Id="rId41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openxmlformats.org/officeDocument/2006/relationships/font" Target="fonts/font2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b30a51702_0_10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b30a51702_0_10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b30a51702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37b30a51702_0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b30a51702_0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g37b30a51702_0_537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7" name="Google Shape;97;g37b30a51702_0_537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900"/>
              <a:t>3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b30a51702_0_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b30a51702_0_5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90d95b28d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90d95b28d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b30a51702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37b30a51702_0_788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81" name="Google Shape;181;g37b30a51702_0_788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900"/>
              <a:t>6</a:t>
            </a:fld>
            <a:endParaRPr sz="9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4f70709c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64f70709c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96fb69764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" name="Google Shape;351;g396fb69764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7ae31289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g37ae312890c_0_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357" name="Google Shape;357;g37ae312890c_0_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900"/>
              <a:t>9</a:t>
            </a:fld>
            <a:endParaRPr sz="9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7b30a51702_0_9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g37b30a51702_0_955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386" name="Google Shape;386;g37b30a51702_0_955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900"/>
              <a:t>10</a:t>
            </a:fld>
            <a:endParaRPr sz="9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>
          <a:extLst>
            <a:ext uri="{FF2B5EF4-FFF2-40B4-BE49-F238E27FC236}">
              <a16:creationId xmlns:a16="http://schemas.microsoft.com/office/drawing/2014/main" id="{56D1C449-A874-1BF8-A5F4-A23367F80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90ea7750b4_0_8:notes">
            <a:extLst>
              <a:ext uri="{FF2B5EF4-FFF2-40B4-BE49-F238E27FC236}">
                <a16:creationId xmlns:a16="http://schemas.microsoft.com/office/drawing/2014/main" id="{DD5DB75F-D1C7-A14C-766D-D79A2465F7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g390ea7750b4_0_8:notes">
            <a:extLst>
              <a:ext uri="{FF2B5EF4-FFF2-40B4-BE49-F238E27FC236}">
                <a16:creationId xmlns:a16="http://schemas.microsoft.com/office/drawing/2014/main" id="{0B34D070-051B-25E4-375D-5B62145630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403" name="Google Shape;403;g390ea7750b4_0_8:notes">
            <a:extLst>
              <a:ext uri="{FF2B5EF4-FFF2-40B4-BE49-F238E27FC236}">
                <a16:creationId xmlns:a16="http://schemas.microsoft.com/office/drawing/2014/main" id="{DE319885-77FA-947E-C5C0-36A5EA327E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900"/>
              <a:t>11</a:t>
            </a:fld>
            <a:endParaRPr sz="900"/>
          </a:p>
        </p:txBody>
      </p:sp>
    </p:spTree>
    <p:extLst>
      <p:ext uri="{BB962C8B-B14F-4D97-AF65-F5344CB8AC3E}">
        <p14:creationId xmlns:p14="http://schemas.microsoft.com/office/powerpoint/2010/main" val="38076956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7b30a51702_0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6" name="Google Shape;416;g37b30a51702_0_1205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417" name="Google Shape;417;g37b30a51702_0_1205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900"/>
              <a:t>12</a:t>
            </a:fld>
            <a:endParaRPr sz="9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7ae312890c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g37ae312890c_0_42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435" name="Google Shape;435;g37ae312890c_0_42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900"/>
              <a:t>13</a:t>
            </a:fld>
            <a:endParaRPr sz="9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df2c1cb68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g3df2c1cb689_0_7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/>
          </a:p>
        </p:txBody>
      </p:sp>
      <p:sp>
        <p:nvSpPr>
          <p:cNvPr id="453" name="Google Shape;453;g3df2c1cb689_0_7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b30a51702_0_1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b30a51702_0_131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s" sz="900"/>
            </a:br>
            <a:endParaRPr sz="900"/>
          </a:p>
        </p:txBody>
      </p:sp>
      <p:sp>
        <p:nvSpPr>
          <p:cNvPr id="470" name="Google Shape;470;g37b30a51702_0_131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900"/>
              <a:t>15</a:t>
            </a:fld>
            <a:endParaRPr sz="9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790d95b28d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5" name="Google Shape;485;g3790d95b28d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790d95b28d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g3790d95b28d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790d95b28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0" name="Google Shape;500;g3790d95b28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790d95b28d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g3790d95b28d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790d95b28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8" name="Google Shape;518;g3790d95b28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790d95b28d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0" name="Google Shape;530;g3790d95b28d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21558004c08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1" name="Google Shape;541;g21558004c08_3_35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g21558004c08_3_35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900"/>
              <a:t>22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E5FF0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00"/>
              <a:buFont typeface="Space Grotesk"/>
              <a:buNone/>
              <a:defRPr sz="23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300"/>
              <a:buFont typeface="Space Grotesk"/>
              <a:buNone/>
              <a:defRPr sz="23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300"/>
              <a:buFont typeface="Space Grotesk"/>
              <a:buNone/>
              <a:defRPr sz="23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300"/>
              <a:buFont typeface="Space Grotesk"/>
              <a:buNone/>
              <a:defRPr sz="23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300"/>
              <a:buFont typeface="Space Grotesk"/>
              <a:buNone/>
              <a:defRPr sz="23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300"/>
              <a:buFont typeface="Space Grotesk"/>
              <a:buNone/>
              <a:defRPr sz="23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300"/>
              <a:buFont typeface="Space Grotesk"/>
              <a:buNone/>
              <a:defRPr sz="23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300"/>
              <a:buFont typeface="Space Grotesk"/>
              <a:buNone/>
              <a:defRPr sz="23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300"/>
              <a:buFont typeface="Space Grotesk"/>
              <a:buNone/>
              <a:defRPr sz="23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665752"/>
            <a:ext cx="9144003" cy="477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2">
    <p:bg>
      <p:bgPr>
        <a:solidFill>
          <a:srgbClr val="222326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Space Grotesk"/>
              <a:buNone/>
              <a:defRPr sz="2300">
                <a:solidFill>
                  <a:srgbClr val="FAFAF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Space Grotesk"/>
              <a:buNone/>
              <a:defRPr sz="2300">
                <a:solidFill>
                  <a:srgbClr val="FAFAF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Space Grotesk"/>
              <a:buNone/>
              <a:defRPr sz="2300">
                <a:solidFill>
                  <a:srgbClr val="FAFAF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Space Grotesk"/>
              <a:buNone/>
              <a:defRPr sz="2300">
                <a:solidFill>
                  <a:srgbClr val="FAFAF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Space Grotesk"/>
              <a:buNone/>
              <a:defRPr sz="2300">
                <a:solidFill>
                  <a:srgbClr val="FAFAF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Space Grotesk"/>
              <a:buNone/>
              <a:defRPr sz="2300">
                <a:solidFill>
                  <a:srgbClr val="FAFAF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Space Grotesk"/>
              <a:buNone/>
              <a:defRPr sz="2300">
                <a:solidFill>
                  <a:srgbClr val="FAFAF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Space Grotesk"/>
              <a:buNone/>
              <a:defRPr sz="2300">
                <a:solidFill>
                  <a:srgbClr val="FAFAF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Space Grotesk"/>
              <a:buNone/>
              <a:defRPr sz="2300">
                <a:solidFill>
                  <a:srgbClr val="FAFAF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665750"/>
            <a:ext cx="9144003" cy="4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335925" y="268250"/>
            <a:ext cx="4211100" cy="5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 idx="2"/>
          </p:nvPr>
        </p:nvSpPr>
        <p:spPr>
          <a:xfrm>
            <a:off x="1335925" y="993175"/>
            <a:ext cx="421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title" idx="3"/>
          </p:nvPr>
        </p:nvSpPr>
        <p:spPr>
          <a:xfrm>
            <a:off x="3549400" y="3086975"/>
            <a:ext cx="4211100" cy="5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 idx="4"/>
          </p:nvPr>
        </p:nvSpPr>
        <p:spPr>
          <a:xfrm>
            <a:off x="3549400" y="3642575"/>
            <a:ext cx="421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1259725" y="268250"/>
            <a:ext cx="4379700" cy="5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 idx="2"/>
          </p:nvPr>
        </p:nvSpPr>
        <p:spPr>
          <a:xfrm>
            <a:off x="1259725" y="993175"/>
            <a:ext cx="43797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idx="3"/>
          </p:nvPr>
        </p:nvSpPr>
        <p:spPr>
          <a:xfrm>
            <a:off x="3473200" y="3086975"/>
            <a:ext cx="4379700" cy="5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Font typeface="Space Grotesk"/>
              <a:buNone/>
              <a:defRPr sz="2000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Font typeface="Space Grotesk"/>
              <a:buNone/>
              <a:defRPr sz="2000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Font typeface="Space Grotesk"/>
              <a:buNone/>
              <a:defRPr sz="2000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Font typeface="Space Grotesk"/>
              <a:buNone/>
              <a:defRPr sz="2000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Font typeface="Space Grotesk"/>
              <a:buNone/>
              <a:defRPr sz="2000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Font typeface="Space Grotesk"/>
              <a:buNone/>
              <a:defRPr sz="2000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Font typeface="Space Grotesk"/>
              <a:buNone/>
              <a:defRPr sz="2000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Font typeface="Space Grotesk"/>
              <a:buNone/>
              <a:defRPr sz="2000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Font typeface="Space Grotesk"/>
              <a:buNone/>
              <a:defRPr sz="2000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4"/>
          </p:nvPr>
        </p:nvSpPr>
        <p:spPr>
          <a:xfrm>
            <a:off x="3473200" y="3642575"/>
            <a:ext cx="43797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400"/>
              <a:buFont typeface="Albert Sans"/>
              <a:buNone/>
              <a:defRPr sz="14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400"/>
              <a:buFont typeface="Albert Sans"/>
              <a:buNone/>
              <a:defRPr sz="14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400"/>
              <a:buFont typeface="Albert Sans"/>
              <a:buNone/>
              <a:defRPr sz="14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400"/>
              <a:buFont typeface="Albert Sans"/>
              <a:buNone/>
              <a:defRPr sz="14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400"/>
              <a:buFont typeface="Albert Sans"/>
              <a:buNone/>
              <a:defRPr sz="14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400"/>
              <a:buFont typeface="Albert Sans"/>
              <a:buNone/>
              <a:defRPr sz="14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400"/>
              <a:buFont typeface="Albert Sans"/>
              <a:buNone/>
              <a:defRPr sz="14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400"/>
              <a:buFont typeface="Albert Sans"/>
              <a:buNone/>
              <a:defRPr sz="14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400"/>
              <a:buFont typeface="Albert Sans"/>
              <a:buNone/>
              <a:defRPr sz="14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rgbClr val="222326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 rotWithShape="1">
          <a:blip r:embed="rId2">
            <a:alphaModFix/>
          </a:blip>
          <a:srcRect b="9289"/>
          <a:stretch/>
        </p:blipFill>
        <p:spPr>
          <a:xfrm>
            <a:off x="0" y="1"/>
            <a:ext cx="9144000" cy="466575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813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65756"/>
            <a:ext cx="9144003" cy="477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bg>
      <p:bgPr>
        <a:solidFill>
          <a:srgbClr val="222326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t="9289"/>
          <a:stretch/>
        </p:blipFill>
        <p:spPr>
          <a:xfrm>
            <a:off x="0" y="-1"/>
            <a:ext cx="9144000" cy="466575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829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pic>
        <p:nvPicPr>
          <p:cNvPr id="34" name="Google Shape;3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65756"/>
            <a:ext cx="9144003" cy="477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" y="0"/>
            <a:ext cx="914401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5987575" y="1961475"/>
            <a:ext cx="2301300" cy="14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0" y="0"/>
            <a:ext cx="914403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5682775" y="1961475"/>
            <a:ext cx="2301300" cy="14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MAIN_POINT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2" y="0"/>
            <a:ext cx="914403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5682775" y="1961475"/>
            <a:ext cx="2301300" cy="14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1"/>
          <p:cNvPicPr preferRelativeResize="0"/>
          <p:nvPr/>
        </p:nvPicPr>
        <p:blipFill rotWithShape="1">
          <a:blip r:embed="rId2">
            <a:alphaModFix/>
          </a:blip>
          <a:srcRect l="6515" t="19198" r="3004"/>
          <a:stretch/>
        </p:blipFill>
        <p:spPr>
          <a:xfrm>
            <a:off x="228600" y="618100"/>
            <a:ext cx="8628274" cy="43346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741550" y="1820550"/>
            <a:ext cx="11655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 sz="14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pic>
        <p:nvPicPr>
          <p:cNvPr id="47" name="Google Shape;4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4665762"/>
            <a:ext cx="9144003" cy="477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06363" y="734837"/>
            <a:ext cx="6531274" cy="3673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2"/>
          <p:cNvSpPr txBox="1">
            <a:spLocks noGrp="1"/>
          </p:cNvSpPr>
          <p:nvPr>
            <p:ph type="body" idx="1"/>
          </p:nvPr>
        </p:nvSpPr>
        <p:spPr>
          <a:xfrm>
            <a:off x="2158575" y="1571100"/>
            <a:ext cx="12921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 sz="1400">
                <a:latin typeface="Albert Sans"/>
                <a:ea typeface="Albert Sans"/>
                <a:cs typeface="Albert Sans"/>
                <a:sym typeface="Albert Sans"/>
              </a:defRPr>
            </a:lvl1pPr>
          </a:lstStyle>
          <a:p>
            <a:endParaRPr/>
          </a:p>
        </p:txBody>
      </p:sp>
      <p:pic>
        <p:nvPicPr>
          <p:cNvPr id="51" name="Google Shape;5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4665762"/>
            <a:ext cx="9144003" cy="477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eprise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bg>
      <p:bgPr>
        <a:solidFill>
          <a:srgbClr val="E5FF0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 1">
  <p:cSld name="TITLE_1_1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4665762"/>
            <a:ext cx="9144003" cy="477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inew">
  <p:cSld name="DEFAULT"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 1">
  <p:cSld name="9_Custom Layout_3_5_2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lantilla para texto Consulting and AI">
  <p:cSld name="CUSTOM_1_24_4_1_11_6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_2">
  <p:cSld name="TITLE_1_2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lbert Sans"/>
              <a:buNone/>
              <a:defRPr sz="10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lbert Sans"/>
              <a:buNone/>
              <a:defRPr sz="10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lbert Sans"/>
              <a:buNone/>
              <a:defRPr sz="10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lbert Sans"/>
              <a:buNone/>
              <a:defRPr sz="10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lbert Sans"/>
              <a:buNone/>
              <a:defRPr sz="10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lbert Sans"/>
              <a:buNone/>
              <a:defRPr sz="10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lbert Sans"/>
              <a:buNone/>
              <a:defRPr sz="10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lbert Sans"/>
              <a:buNone/>
              <a:defRPr sz="10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lbert Sans"/>
              <a:buNone/>
              <a:defRPr sz="10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 2">
  <p:cSld name="TITLE_1_3">
    <p:bg>
      <p:bgPr>
        <a:solidFill>
          <a:srgbClr val="E5FF0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lbert Sans"/>
              <a:buNone/>
              <a:defRPr sz="10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lbert Sans"/>
              <a:buNone/>
              <a:defRPr sz="10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lbert Sans"/>
              <a:buNone/>
              <a:defRPr sz="10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lbert Sans"/>
              <a:buNone/>
              <a:defRPr sz="10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lbert Sans"/>
              <a:buNone/>
              <a:defRPr sz="10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lbert Sans"/>
              <a:buNone/>
              <a:defRPr sz="10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lbert Sans"/>
              <a:buNone/>
              <a:defRPr sz="10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lbert Sans"/>
              <a:buNone/>
              <a:defRPr sz="10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lbert Sans"/>
              <a:buNone/>
              <a:defRPr sz="10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lbert Sans"/>
              <a:buChar char="●"/>
              <a:defRPr sz="18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lbert Sans"/>
        <a:defRPr sz="1400" b="0" i="0" u="none" strike="noStrike" cap="none">
          <a:solidFill>
            <a:srgbClr val="000000"/>
          </a:solidFill>
          <a:latin typeface="Albert Sans"/>
          <a:ea typeface="Albert Sans"/>
          <a:cs typeface="Albert Sans"/>
          <a:sym typeface="Albert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mailto:paula.lara@kinanalytics.com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6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/>
        </p:nvSpPr>
        <p:spPr>
          <a:xfrm>
            <a:off x="62307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E5FF0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/>
            </a:r>
            <a:endParaRPr sz="900">
              <a:solidFill>
                <a:srgbClr val="E5FF0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74" name="Google Shape;74;p23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E5FF0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>
              <a:solidFill>
                <a:srgbClr val="E5FF0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75" name="Google Shape;75;p23"/>
          <p:cNvPicPr preferRelativeResize="0"/>
          <p:nvPr/>
        </p:nvPicPr>
        <p:blipFill rotWithShape="1">
          <a:blip r:embed="rId3">
            <a:alphaModFix/>
          </a:blip>
          <a:srcRect t="15675" b="15668"/>
          <a:stretch/>
        </p:blipFill>
        <p:spPr>
          <a:xfrm>
            <a:off x="64550" y="4652875"/>
            <a:ext cx="2501176" cy="4494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3"/>
          <p:cNvSpPr/>
          <p:nvPr/>
        </p:nvSpPr>
        <p:spPr>
          <a:xfrm rot="-5400000">
            <a:off x="7161705" y="719100"/>
            <a:ext cx="3977400" cy="34455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1414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" name="Google Shape;77;p23"/>
          <p:cNvPicPr preferRelativeResize="0"/>
          <p:nvPr/>
        </p:nvPicPr>
        <p:blipFill rotWithShape="1">
          <a:blip r:embed="rId4">
            <a:alphaModFix/>
          </a:blip>
          <a:srcRect l="16686" t="6669" r="16759" b="6495"/>
          <a:stretch/>
        </p:blipFill>
        <p:spPr>
          <a:xfrm rot="-5400000">
            <a:off x="3722799" y="715418"/>
            <a:ext cx="3963600" cy="3446400"/>
          </a:xfrm>
          <a:prstGeom prst="hexagon">
            <a:avLst>
              <a:gd name="adj" fmla="val 28200"/>
              <a:gd name="vf" fmla="val 115470"/>
            </a:avLst>
          </a:prstGeom>
          <a:noFill/>
          <a:ln>
            <a:noFill/>
          </a:ln>
        </p:spPr>
      </p:pic>
      <p:sp>
        <p:nvSpPr>
          <p:cNvPr id="78" name="Google Shape;78;p23"/>
          <p:cNvSpPr txBox="1"/>
          <p:nvPr/>
        </p:nvSpPr>
        <p:spPr>
          <a:xfrm>
            <a:off x="95550" y="106100"/>
            <a:ext cx="1216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 Analytics </a:t>
            </a:r>
            <a:endParaRPr sz="8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©2026</a:t>
            </a:r>
            <a:endParaRPr sz="8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CONFIDENTIAL</a:t>
            </a:r>
            <a:endParaRPr sz="8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79" name="Google Shape;79;p23"/>
          <p:cNvSpPr txBox="1"/>
          <p:nvPr/>
        </p:nvSpPr>
        <p:spPr>
          <a:xfrm>
            <a:off x="169350" y="1325125"/>
            <a:ext cx="3366300" cy="26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3500" dirty="0">
                <a:solidFill>
                  <a:srgbClr val="EFEFE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Prospección Digital</a:t>
            </a:r>
            <a:br>
              <a:rPr lang="es" sz="3500" dirty="0">
                <a:solidFill>
                  <a:srgbClr val="EFEFEE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endParaRPr sz="3500" dirty="0">
              <a:solidFill>
                <a:srgbClr val="EFEFE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800" dirty="0">
                <a:solidFill>
                  <a:schemeClr val="accent6"/>
                </a:solidFill>
                <a:latin typeface="Space Grotesk"/>
                <a:ea typeface="Space Grotesk"/>
                <a:cs typeface="Space Grotesk"/>
                <a:sym typeface="Space Grotesk"/>
              </a:rPr>
              <a:t>Nicaragua - Femsa</a:t>
            </a:r>
            <a:endParaRPr sz="1800" dirty="0">
              <a:solidFill>
                <a:schemeClr val="accent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800" dirty="0">
              <a:solidFill>
                <a:schemeClr val="accent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800" dirty="0">
                <a:solidFill>
                  <a:srgbClr val="EFEFEE"/>
                </a:solidFill>
                <a:latin typeface="Space Grotesk"/>
                <a:ea typeface="Space Grotesk"/>
                <a:cs typeface="Space Grotesk"/>
                <a:sym typeface="Space Grotesk"/>
              </a:rPr>
              <a:t>Mayo 2026</a:t>
            </a:r>
            <a:endParaRPr sz="1800" dirty="0">
              <a:solidFill>
                <a:srgbClr val="EFEFE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4"/>
          <p:cNvSpPr txBox="1"/>
          <p:nvPr/>
        </p:nvSpPr>
        <p:spPr>
          <a:xfrm>
            <a:off x="3795300" y="263650"/>
            <a:ext cx="15534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lbert Sans"/>
              <a:buNone/>
            </a:pPr>
            <a:r>
              <a:rPr lang="es" sz="2000" b="0" i="0" u="none" strike="noStrike" cap="none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 Contenido</a:t>
            </a:r>
            <a:r>
              <a:rPr lang="es" sz="21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            </a:t>
            </a:r>
            <a:endParaRPr sz="2100" b="1" i="0" u="none" strike="noStrike" cap="non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5" name="Google Shape;85;p24"/>
          <p:cNvSpPr/>
          <p:nvPr/>
        </p:nvSpPr>
        <p:spPr>
          <a:xfrm>
            <a:off x="3274950" y="1500300"/>
            <a:ext cx="2825700" cy="658500"/>
          </a:xfrm>
          <a:prstGeom prst="rect">
            <a:avLst/>
          </a:prstGeom>
          <a:solidFill>
            <a:srgbClr val="E5FF0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</a:pPr>
            <a:r>
              <a:rPr lang="es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2. El algoritmo</a:t>
            </a:r>
            <a:endParaRPr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6" name="Google Shape;86;p24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lbert Sans"/>
              <a:buNone/>
            </a:pPr>
            <a:endParaRPr sz="1400" b="0" i="0" u="none" strike="noStrike" cap="non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7" name="Google Shape;87;p24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lbert Sans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/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88" name="Google Shape;88;p24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lbert Sans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89" name="Google Shape;8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4"/>
          <p:cNvSpPr/>
          <p:nvPr/>
        </p:nvSpPr>
        <p:spPr>
          <a:xfrm>
            <a:off x="3274950" y="2985050"/>
            <a:ext cx="2825700" cy="658500"/>
          </a:xfrm>
          <a:prstGeom prst="rect">
            <a:avLst/>
          </a:prstGeom>
          <a:solidFill>
            <a:srgbClr val="999E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</a:pPr>
            <a:r>
              <a:rPr lang="es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4. Siguientes pasos</a:t>
            </a:r>
            <a:endParaRPr sz="14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1" name="Google Shape;91;p24"/>
          <p:cNvSpPr/>
          <p:nvPr/>
        </p:nvSpPr>
        <p:spPr>
          <a:xfrm>
            <a:off x="3274950" y="3734550"/>
            <a:ext cx="2825700" cy="658500"/>
          </a:xfrm>
          <a:prstGeom prst="rect">
            <a:avLst/>
          </a:prstGeom>
          <a:solidFill>
            <a:srgbClr val="2223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lbert Sans"/>
              <a:buNone/>
            </a:pPr>
            <a:r>
              <a:rPr lang="es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5. Glosario</a:t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2" name="Google Shape;92;p24"/>
          <p:cNvSpPr/>
          <p:nvPr/>
        </p:nvSpPr>
        <p:spPr>
          <a:xfrm>
            <a:off x="3274950" y="748625"/>
            <a:ext cx="2825700" cy="658500"/>
          </a:xfrm>
          <a:prstGeom prst="rect">
            <a:avLst/>
          </a:prstGeom>
          <a:solidFill>
            <a:srgbClr val="F2FF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</a:pPr>
            <a:r>
              <a:rPr lang="es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1. Introducción y generalidades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3" name="Google Shape;93;p24"/>
          <p:cNvSpPr/>
          <p:nvPr/>
        </p:nvSpPr>
        <p:spPr>
          <a:xfrm>
            <a:off x="3274950" y="2235550"/>
            <a:ext cx="2825700" cy="658500"/>
          </a:xfrm>
          <a:prstGeom prst="rect">
            <a:avLst/>
          </a:prstGeom>
          <a:solidFill>
            <a:srgbClr val="D8D8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</a:pPr>
            <a:r>
              <a:rPr lang="es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3. Análisis y resultados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3528925" y="820375"/>
            <a:ext cx="51963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None/>
            </a:pPr>
            <a:r>
              <a:rPr lang="es" sz="1100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Identificar y priorizar las oportunidades de expansión de mercado para el embotellador en sus distintos canales y categorías a nivel de punto de venta.</a:t>
            </a:r>
            <a:endParaRPr sz="1200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0" name="Google Shape;100;p25"/>
          <p:cNvSpPr/>
          <p:nvPr/>
        </p:nvSpPr>
        <p:spPr>
          <a:xfrm>
            <a:off x="3533575" y="192900"/>
            <a:ext cx="2206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000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PROSPECCIÓN DIGITAL</a:t>
            </a:r>
            <a:endParaRPr sz="1000" i="0" u="none" strike="noStrike" cap="none">
              <a:solidFill>
                <a:srgbClr val="999EA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1" name="Google Shape;101;p25"/>
          <p:cNvSpPr/>
          <p:nvPr/>
        </p:nvSpPr>
        <p:spPr>
          <a:xfrm>
            <a:off x="8306250" y="192900"/>
            <a:ext cx="3768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000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PD</a:t>
            </a:r>
            <a:endParaRPr sz="1000" i="0" u="none" strike="noStrike" cap="none">
              <a:solidFill>
                <a:srgbClr val="999EA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3533575" y="457800"/>
            <a:ext cx="4585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1111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Objetivo del proyecto</a:t>
            </a:r>
            <a:endParaRPr sz="2000"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3528925" y="1392513"/>
            <a:ext cx="5028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1111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Impacto esperado</a:t>
            </a:r>
            <a:endParaRPr sz="2000"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4" name="Google Shape;104;p25"/>
          <p:cNvSpPr txBox="1"/>
          <p:nvPr/>
        </p:nvSpPr>
        <p:spPr>
          <a:xfrm>
            <a:off x="3528925" y="1733375"/>
            <a:ext cx="51540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None/>
            </a:pPr>
            <a:r>
              <a:rPr lang="es" sz="1100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Este análisis permitirá al embotellador </a:t>
            </a:r>
            <a:r>
              <a:rPr lang="es" sz="1100" b="1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entender mejor las áreas clave</a:t>
            </a:r>
            <a:r>
              <a:rPr lang="es" sz="1100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 de crecimiento y </a:t>
            </a:r>
            <a:r>
              <a:rPr lang="es" sz="1100" b="1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tomar decisiones informadas</a:t>
            </a:r>
            <a:r>
              <a:rPr lang="es" sz="1100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 sobre dónde </a:t>
            </a:r>
            <a:r>
              <a:rPr lang="es" sz="1100" b="1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concentrar sus esfuerzos de expansión</a:t>
            </a:r>
            <a:r>
              <a:rPr lang="es" sz="1100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, optimizando así la distribución y los recursos de manera estratégica.</a:t>
            </a:r>
            <a:br>
              <a:rPr lang="es" sz="1100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sz="1100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None/>
            </a:pPr>
            <a:endParaRPr sz="1100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5" name="Google Shape;105;p25"/>
          <p:cNvSpPr txBox="1"/>
          <p:nvPr/>
        </p:nvSpPr>
        <p:spPr>
          <a:xfrm>
            <a:off x="3533575" y="2714275"/>
            <a:ext cx="496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1111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El proyecto en cifras </a:t>
            </a:r>
            <a:endParaRPr sz="2000"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pic>
        <p:nvPicPr>
          <p:cNvPr id="106" name="Google Shape;106;p25"/>
          <p:cNvPicPr preferRelativeResize="0"/>
          <p:nvPr/>
        </p:nvPicPr>
        <p:blipFill rotWithShape="1">
          <a:blip r:embed="rId3">
            <a:alphaModFix/>
          </a:blip>
          <a:srcRect l="26447" r="26443"/>
          <a:stretch/>
        </p:blipFill>
        <p:spPr>
          <a:xfrm>
            <a:off x="0" y="0"/>
            <a:ext cx="3305528" cy="4676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5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5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/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109" name="Google Shape;109;p25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110" name="Google Shape;11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5"/>
          <p:cNvSpPr txBox="1"/>
          <p:nvPr/>
        </p:nvSpPr>
        <p:spPr>
          <a:xfrm>
            <a:off x="3446675" y="3067400"/>
            <a:ext cx="5278500" cy="14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just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lbert Sans"/>
              <a:buChar char="●"/>
            </a:pPr>
            <a:r>
              <a:rPr lang="es" sz="1100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Implementado con éxito en más de </a:t>
            </a:r>
            <a:r>
              <a:rPr lang="es" sz="1100" b="1">
                <a:solidFill>
                  <a:srgbClr val="111111"/>
                </a:solidFill>
                <a:highlight>
                  <a:srgbClr val="E5FF01"/>
                </a:highlight>
                <a:latin typeface="Albert Sans"/>
                <a:ea typeface="Albert Sans"/>
                <a:cs typeface="Albert Sans"/>
                <a:sym typeface="Albert Sans"/>
              </a:rPr>
              <a:t>17 países y 25 embotelladores</a:t>
            </a:r>
            <a:r>
              <a:rPr lang="es" sz="1100">
                <a:solidFill>
                  <a:srgbClr val="111111"/>
                </a:solidFill>
                <a:highlight>
                  <a:srgbClr val="E5FF01"/>
                </a:highlight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" sz="1100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alrededor del mundo</a:t>
            </a:r>
            <a:endParaRPr sz="1100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lbert Sans"/>
              <a:buChar char="●"/>
            </a:pPr>
            <a:r>
              <a:rPr lang="es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En promedio,</a:t>
            </a:r>
            <a:r>
              <a:rPr lang="es" sz="11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" sz="1100" b="1">
                <a:solidFill>
                  <a:schemeClr val="dk1"/>
                </a:solidFill>
                <a:highlight>
                  <a:srgbClr val="E5FF01"/>
                </a:highlight>
                <a:latin typeface="Albert Sans"/>
                <a:ea typeface="Albert Sans"/>
                <a:cs typeface="Albert Sans"/>
                <a:sym typeface="Albert Sans"/>
              </a:rPr>
              <a:t>1 de cada 5 prospectos</a:t>
            </a:r>
            <a:r>
              <a:rPr lang="es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contactados se transforma en cliente, lo que refleja la efectividad del análisis en la conversión de oportunidades.</a:t>
            </a:r>
            <a:endParaRPr sz="11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lbert Sans"/>
              <a:buChar char="●"/>
            </a:pPr>
            <a:r>
              <a:rPr lang="es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En los casos más exitosos, </a:t>
            </a:r>
            <a:r>
              <a:rPr lang="es" sz="1100" b="1">
                <a:solidFill>
                  <a:schemeClr val="dk1"/>
                </a:solidFill>
                <a:highlight>
                  <a:schemeClr val="accent6"/>
                </a:highlight>
                <a:latin typeface="Albert Sans"/>
                <a:ea typeface="Albert Sans"/>
                <a:cs typeface="Albert Sans"/>
                <a:sym typeface="Albert Sans"/>
              </a:rPr>
              <a:t>se ha mejorado el ratio a 1 de cada 3 prospectos</a:t>
            </a:r>
            <a:r>
              <a:rPr lang="es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convertidos en clientes, optimizando el proceso de captación y expansión.</a:t>
            </a:r>
            <a:endParaRPr sz="11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None/>
            </a:pPr>
            <a:endParaRPr sz="1100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6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/>
        </p:nvSpPr>
        <p:spPr>
          <a:xfrm>
            <a:off x="95550" y="106100"/>
            <a:ext cx="212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PROSPECCIÓN DIGITAL</a:t>
            </a:r>
            <a:endParaRPr sz="10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117" name="Google Shape;117;p26"/>
          <p:cNvSpPr txBox="1"/>
          <p:nvPr/>
        </p:nvSpPr>
        <p:spPr>
          <a:xfrm>
            <a:off x="95550" y="318075"/>
            <a:ext cx="351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EFEFEE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El ciclo de vida del proyecto</a:t>
            </a:r>
            <a:endParaRPr sz="2000">
              <a:solidFill>
                <a:srgbClr val="EFEFEE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8" name="Google Shape;118;p26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119" name="Google Shape;119;p26"/>
          <p:cNvPicPr preferRelativeResize="0"/>
          <p:nvPr/>
        </p:nvPicPr>
        <p:blipFill rotWithShape="1">
          <a:blip r:embed="rId3">
            <a:alphaModFix/>
          </a:blip>
          <a:srcRect t="90" b="100"/>
          <a:stretch/>
        </p:blipFill>
        <p:spPr>
          <a:xfrm>
            <a:off x="131750" y="4754279"/>
            <a:ext cx="1236828" cy="3230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6"/>
          <p:cNvSpPr/>
          <p:nvPr/>
        </p:nvSpPr>
        <p:spPr>
          <a:xfrm>
            <a:off x="3297500" y="1165742"/>
            <a:ext cx="2540100" cy="2540100"/>
          </a:xfrm>
          <a:prstGeom prst="donut">
            <a:avLst>
              <a:gd name="adj" fmla="val 16067"/>
            </a:avLst>
          </a:prstGeom>
          <a:solidFill>
            <a:srgbClr val="000000">
              <a:alpha val="1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" name="Google Shape;121;p26"/>
          <p:cNvGrpSpPr/>
          <p:nvPr/>
        </p:nvGrpSpPr>
        <p:grpSpPr>
          <a:xfrm>
            <a:off x="1368573" y="1315125"/>
            <a:ext cx="2243896" cy="669600"/>
            <a:chOff x="1368573" y="1315125"/>
            <a:chExt cx="2243896" cy="669600"/>
          </a:xfrm>
        </p:grpSpPr>
        <p:cxnSp>
          <p:nvCxnSpPr>
            <p:cNvPr id="122" name="Google Shape;122;p26"/>
            <p:cNvCxnSpPr/>
            <p:nvPr/>
          </p:nvCxnSpPr>
          <p:spPr>
            <a:xfrm>
              <a:off x="3178969" y="1638300"/>
              <a:ext cx="433500" cy="252300"/>
            </a:xfrm>
            <a:prstGeom prst="straightConnector1">
              <a:avLst/>
            </a:prstGeom>
            <a:noFill/>
            <a:ln w="19050" cap="flat" cmpd="sng">
              <a:solidFill>
                <a:srgbClr val="899328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sp>
          <p:nvSpPr>
            <p:cNvPr id="123" name="Google Shape;123;p26"/>
            <p:cNvSpPr txBox="1"/>
            <p:nvPr/>
          </p:nvSpPr>
          <p:spPr>
            <a:xfrm>
              <a:off x="1368573" y="1315125"/>
              <a:ext cx="18075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FAFAFA"/>
                  </a:solidFill>
                  <a:latin typeface="Albert Sans Medium"/>
                  <a:ea typeface="Albert Sans Medium"/>
                  <a:cs typeface="Albert Sans Medium"/>
                  <a:sym typeface="Albert Sans Medium"/>
                </a:rPr>
                <a:t>Modelado</a:t>
              </a:r>
              <a:endParaRPr sz="1200">
                <a:solidFill>
                  <a:srgbClr val="FAFAFA"/>
                </a:solidFill>
                <a:latin typeface="Albert Sans Medium"/>
                <a:ea typeface="Albert Sans Medium"/>
                <a:cs typeface="Albert Sans Medium"/>
                <a:sym typeface="Albert Sans Medium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latin typeface="Albert Sans"/>
                <a:ea typeface="Albert Sans"/>
                <a:cs typeface="Albert Sans"/>
                <a:sym typeface="Albert San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lbert Sans"/>
                <a:buNone/>
              </a:pPr>
              <a:r>
                <a:rPr lang="es" sz="900">
                  <a:solidFill>
                    <a:srgbClr val="D8D9DA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En esta etapa nos encargamos de validar la calidad de los datos compartidos, de ejecutar el algoritmo y de generar una versión de resultado</a:t>
              </a:r>
              <a:endParaRPr sz="800" b="1">
                <a:solidFill>
                  <a:srgbClr val="D8D9DA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124" name="Google Shape;124;p26"/>
          <p:cNvGrpSpPr/>
          <p:nvPr/>
        </p:nvGrpSpPr>
        <p:grpSpPr>
          <a:xfrm>
            <a:off x="5517319" y="1315125"/>
            <a:ext cx="2384906" cy="669600"/>
            <a:chOff x="5517319" y="1315125"/>
            <a:chExt cx="2384906" cy="669600"/>
          </a:xfrm>
        </p:grpSpPr>
        <p:cxnSp>
          <p:nvCxnSpPr>
            <p:cNvPr id="125" name="Google Shape;125;p26"/>
            <p:cNvCxnSpPr/>
            <p:nvPr/>
          </p:nvCxnSpPr>
          <p:spPr>
            <a:xfrm flipH="1">
              <a:off x="5517319" y="1638300"/>
              <a:ext cx="433500" cy="25230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sp>
          <p:nvSpPr>
            <p:cNvPr id="126" name="Google Shape;126;p26"/>
            <p:cNvSpPr txBox="1"/>
            <p:nvPr/>
          </p:nvSpPr>
          <p:spPr>
            <a:xfrm>
              <a:off x="5962125" y="1315125"/>
              <a:ext cx="19401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lbert Sans"/>
                <a:buNone/>
              </a:pPr>
              <a:r>
                <a:rPr lang="es" sz="1200">
                  <a:solidFill>
                    <a:srgbClr val="EFEFEE"/>
                  </a:solidFill>
                  <a:latin typeface="Albert Sans Medium"/>
                  <a:ea typeface="Albert Sans Medium"/>
                  <a:cs typeface="Albert Sans Medium"/>
                  <a:sym typeface="Albert Sans Medium"/>
                </a:rPr>
                <a:t>Pruebas de campo</a:t>
              </a:r>
              <a:endParaRPr sz="1200">
                <a:solidFill>
                  <a:srgbClr val="EFEFEE"/>
                </a:solidFill>
                <a:latin typeface="Albert Sans Medium"/>
                <a:ea typeface="Albert Sans Medium"/>
                <a:cs typeface="Albert Sans Medium"/>
                <a:sym typeface="Albert Sans Medium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latin typeface="Albert Sans"/>
                <a:ea typeface="Albert Sans"/>
                <a:cs typeface="Albert Sans"/>
                <a:sym typeface="Albert San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lbert Sans"/>
                <a:buNone/>
              </a:pPr>
              <a:r>
                <a:rPr lang="es" sz="900">
                  <a:solidFill>
                    <a:srgbClr val="D8D9DA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Una vez se han recibido los resultados es importante validar su veracidad en campo, para esto, se crean diferentes rutas a conveniencia del bottler para evaluar la calidad de los resultados</a:t>
              </a:r>
              <a:endParaRPr sz="900">
                <a:solidFill>
                  <a:srgbClr val="D8D9DA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127" name="Google Shape;127;p26"/>
          <p:cNvGrpSpPr/>
          <p:nvPr/>
        </p:nvGrpSpPr>
        <p:grpSpPr>
          <a:xfrm>
            <a:off x="3060550" y="3562715"/>
            <a:ext cx="3054300" cy="1143785"/>
            <a:chOff x="3052075" y="3535140"/>
            <a:chExt cx="3054300" cy="1143785"/>
          </a:xfrm>
        </p:grpSpPr>
        <p:cxnSp>
          <p:nvCxnSpPr>
            <p:cNvPr id="128" name="Google Shape;128;p26"/>
            <p:cNvCxnSpPr/>
            <p:nvPr/>
          </p:nvCxnSpPr>
          <p:spPr>
            <a:xfrm rot="10800000">
              <a:off x="4556399" y="3535140"/>
              <a:ext cx="0" cy="460500"/>
            </a:xfrm>
            <a:prstGeom prst="straightConnector1">
              <a:avLst/>
            </a:prstGeom>
            <a:noFill/>
            <a:ln w="19050" cap="flat" cmpd="sng">
              <a:solidFill>
                <a:srgbClr val="F2FF84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sp>
          <p:nvSpPr>
            <p:cNvPr id="129" name="Google Shape;129;p26"/>
            <p:cNvSpPr txBox="1"/>
            <p:nvPr/>
          </p:nvSpPr>
          <p:spPr>
            <a:xfrm>
              <a:off x="3052075" y="4009325"/>
              <a:ext cx="30543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lbert Sans"/>
                <a:buNone/>
              </a:pPr>
              <a:r>
                <a:rPr lang="es" sz="1200">
                  <a:solidFill>
                    <a:srgbClr val="EFEFEE"/>
                  </a:solidFill>
                  <a:latin typeface="Albert Sans Medium"/>
                  <a:ea typeface="Albert Sans Medium"/>
                  <a:cs typeface="Albert Sans Medium"/>
                  <a:sym typeface="Albert Sans Medium"/>
                </a:rPr>
                <a:t>Ajustes en base a las pruebas de campo</a:t>
              </a:r>
              <a:endParaRPr sz="800">
                <a:latin typeface="Albert Sans"/>
                <a:ea typeface="Albert Sans"/>
                <a:cs typeface="Albert Sans"/>
                <a:sym typeface="Albert Sans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latin typeface="Albert Sans"/>
                <a:ea typeface="Albert Sans"/>
                <a:cs typeface="Albert Sans"/>
                <a:sym typeface="Albert Sans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lbert Sans"/>
                <a:buNone/>
              </a:pPr>
              <a:r>
                <a:rPr lang="es" sz="900">
                  <a:solidFill>
                    <a:srgbClr val="D8D9DA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Se analizan los resultados de las pruebas de campo y se crean acciones para el ajuste del modelo en caso de ser necesarias.</a:t>
              </a:r>
              <a:endParaRPr sz="800" b="1">
                <a:solidFill>
                  <a:srgbClr val="D8D9DA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130" name="Google Shape;130;p26"/>
          <p:cNvSpPr txBox="1"/>
          <p:nvPr/>
        </p:nvSpPr>
        <p:spPr>
          <a:xfrm>
            <a:off x="3862809" y="2029760"/>
            <a:ext cx="14436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Prospección digital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31" name="Google Shape;131;p26"/>
          <p:cNvSpPr/>
          <p:nvPr/>
        </p:nvSpPr>
        <p:spPr>
          <a:xfrm rot="1800047">
            <a:off x="3219843" y="1086434"/>
            <a:ext cx="2690936" cy="2690936"/>
          </a:xfrm>
          <a:prstGeom prst="blockArc">
            <a:avLst>
              <a:gd name="adj1" fmla="val 14414370"/>
              <a:gd name="adj2" fmla="val 694"/>
              <a:gd name="adj3" fmla="val 9562"/>
            </a:avLst>
          </a:prstGeom>
          <a:solidFill>
            <a:srgbClr val="E5FF01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6"/>
          <p:cNvSpPr/>
          <p:nvPr/>
        </p:nvSpPr>
        <p:spPr>
          <a:xfrm rot="-1800047" flipH="1">
            <a:off x="3239131" y="1090334"/>
            <a:ext cx="2690936" cy="2690936"/>
          </a:xfrm>
          <a:prstGeom prst="blockArc">
            <a:avLst>
              <a:gd name="adj1" fmla="val 14348563"/>
              <a:gd name="adj2" fmla="val 21472873"/>
              <a:gd name="adj3" fmla="val 9381"/>
            </a:avLst>
          </a:prstGeom>
          <a:solidFill>
            <a:srgbClr val="899328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FFE599"/>
              </a:highlight>
            </a:endParaRPr>
          </a:p>
        </p:txBody>
      </p:sp>
      <p:sp>
        <p:nvSpPr>
          <p:cNvPr id="133" name="Google Shape;133;p26"/>
          <p:cNvSpPr/>
          <p:nvPr/>
        </p:nvSpPr>
        <p:spPr>
          <a:xfrm rot="-8100000">
            <a:off x="4382715" y="1027393"/>
            <a:ext cx="363170" cy="363170"/>
          </a:xfrm>
          <a:prstGeom prst="rtTriangle">
            <a:avLst/>
          </a:prstGeom>
          <a:solidFill>
            <a:srgbClr val="8993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6"/>
          <p:cNvSpPr/>
          <p:nvPr/>
        </p:nvSpPr>
        <p:spPr>
          <a:xfrm rot="-9000757" flipH="1">
            <a:off x="3220953" y="1084808"/>
            <a:ext cx="2690226" cy="2690226"/>
          </a:xfrm>
          <a:prstGeom prst="blockArc">
            <a:avLst>
              <a:gd name="adj1" fmla="val 14316164"/>
              <a:gd name="adj2" fmla="val 21502663"/>
              <a:gd name="adj3" fmla="val 9415"/>
            </a:avLst>
          </a:prstGeom>
          <a:solidFill>
            <a:srgbClr val="F2FF84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6"/>
          <p:cNvSpPr/>
          <p:nvPr/>
        </p:nvSpPr>
        <p:spPr>
          <a:xfrm rot="-1027861">
            <a:off x="5485874" y="2849832"/>
            <a:ext cx="312672" cy="312672"/>
          </a:xfrm>
          <a:prstGeom prst="rtTriangle">
            <a:avLst/>
          </a:prstGeom>
          <a:solidFill>
            <a:srgbClr val="E5FF0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6"/>
          <p:cNvSpPr/>
          <p:nvPr/>
        </p:nvSpPr>
        <p:spPr>
          <a:xfrm rot="6359841">
            <a:off x="3315801" y="2847762"/>
            <a:ext cx="363580" cy="363580"/>
          </a:xfrm>
          <a:prstGeom prst="rtTriangle">
            <a:avLst/>
          </a:prstGeom>
          <a:solidFill>
            <a:srgbClr val="F2FF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6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7"/>
          <p:cNvPicPr preferRelativeResize="0"/>
          <p:nvPr/>
        </p:nvPicPr>
        <p:blipFill rotWithShape="1">
          <a:blip r:embed="rId3">
            <a:alphaModFix/>
          </a:blip>
          <a:srcRect t="3875" b="3875"/>
          <a:stretch/>
        </p:blipFill>
        <p:spPr>
          <a:xfrm>
            <a:off x="1126023" y="1238047"/>
            <a:ext cx="832706" cy="66966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7"/>
          <p:cNvSpPr txBox="1"/>
          <p:nvPr/>
        </p:nvSpPr>
        <p:spPr>
          <a:xfrm>
            <a:off x="630975" y="1939475"/>
            <a:ext cx="1822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None/>
            </a:pPr>
            <a:r>
              <a:rPr lang="es" sz="1100" b="0" i="0" u="none" strike="noStrike" cap="none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Datos de PD</a:t>
            </a:r>
            <a:r>
              <a:rPr lang="es" sz="110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I en</a:t>
            </a:r>
            <a:r>
              <a:rPr lang="es" sz="1100" b="0" i="0" u="none" strike="noStrike" cap="none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 </a:t>
            </a:r>
            <a:r>
              <a:rPr lang="es" sz="1100" b="1" i="0" u="none" strike="noStrike" cap="none">
                <a:solidFill>
                  <a:schemeClr val="accent6"/>
                </a:solidFill>
                <a:latin typeface="Albert Sans"/>
                <a:ea typeface="Albert Sans"/>
                <a:cs typeface="Albert Sans"/>
                <a:sym typeface="Albert Sans"/>
              </a:rPr>
              <a:t>zonas de operación</a:t>
            </a:r>
            <a:r>
              <a:rPr lang="es" sz="1100" b="1">
                <a:solidFill>
                  <a:schemeClr val="accent6"/>
                </a:solidFill>
                <a:latin typeface="Albert Sans"/>
                <a:ea typeface="Albert Sans"/>
                <a:cs typeface="Albert Sans"/>
                <a:sym typeface="Albert Sans"/>
              </a:rPr>
              <a:t>.</a:t>
            </a:r>
            <a:endParaRPr sz="1100" b="0" i="0" u="none" strike="noStrike" cap="none">
              <a:solidFill>
                <a:schemeClr val="accent6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pic>
        <p:nvPicPr>
          <p:cNvPr id="143" name="Google Shape;143;p27"/>
          <p:cNvPicPr preferRelativeResize="0"/>
          <p:nvPr/>
        </p:nvPicPr>
        <p:blipFill rotWithShape="1">
          <a:blip r:embed="rId3">
            <a:alphaModFix/>
          </a:blip>
          <a:srcRect t="3875" b="3875"/>
          <a:stretch/>
        </p:blipFill>
        <p:spPr>
          <a:xfrm>
            <a:off x="1126023" y="3121023"/>
            <a:ext cx="832706" cy="66966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7"/>
          <p:cNvSpPr txBox="1"/>
          <p:nvPr/>
        </p:nvSpPr>
        <p:spPr>
          <a:xfrm>
            <a:off x="258436" y="3753750"/>
            <a:ext cx="2610600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100" dirty="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Maestra</a:t>
            </a:r>
            <a:r>
              <a:rPr lang="es" sz="1100" b="0" i="0" u="none" strike="noStrike" cap="none" dirty="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 de clientes - </a:t>
            </a:r>
            <a:r>
              <a:rPr lang="es" sz="1100" dirty="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Femsa Nicaragua </a:t>
            </a:r>
            <a:endParaRPr sz="1100" dirty="0">
              <a:solidFill>
                <a:schemeClr val="accent6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100" dirty="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(Abril 2026 compartida por cliente)</a:t>
            </a:r>
            <a:endParaRPr sz="1100" b="1" i="0" u="none" strike="noStrike" cap="none" dirty="0">
              <a:solidFill>
                <a:schemeClr val="accent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1" i="0" u="none" strike="noStrike" cap="none" dirty="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2576522" y="2669470"/>
            <a:ext cx="1208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100" b="0" i="0" u="none" strike="noStrike" cap="none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Algoritmo de Data</a:t>
            </a:r>
            <a:r>
              <a:rPr lang="es" sz="110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m</a:t>
            </a:r>
            <a:r>
              <a:rPr lang="es" sz="1100" b="0" i="0" u="none" strike="noStrike" cap="none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atch</a:t>
            </a:r>
            <a:endParaRPr sz="1100" b="0" i="0" u="none" strike="noStrike" cap="none">
              <a:solidFill>
                <a:schemeClr val="accent6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pic>
        <p:nvPicPr>
          <p:cNvPr id="146" name="Google Shape;146;p27"/>
          <p:cNvPicPr preferRelativeResize="0"/>
          <p:nvPr/>
        </p:nvPicPr>
        <p:blipFill rotWithShape="1">
          <a:blip r:embed="rId3">
            <a:alphaModFix/>
          </a:blip>
          <a:srcRect t="7090" b="7081"/>
          <a:stretch/>
        </p:blipFill>
        <p:spPr>
          <a:xfrm>
            <a:off x="4064135" y="1681942"/>
            <a:ext cx="832706" cy="623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7"/>
          <p:cNvPicPr preferRelativeResize="0"/>
          <p:nvPr/>
        </p:nvPicPr>
        <p:blipFill rotWithShape="1">
          <a:blip r:embed="rId3">
            <a:alphaModFix/>
          </a:blip>
          <a:srcRect t="7090" b="7081"/>
          <a:stretch/>
        </p:blipFill>
        <p:spPr>
          <a:xfrm>
            <a:off x="4064135" y="2464035"/>
            <a:ext cx="832706" cy="623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7"/>
          <p:cNvPicPr preferRelativeResize="0"/>
          <p:nvPr/>
        </p:nvPicPr>
        <p:blipFill rotWithShape="1">
          <a:blip r:embed="rId3">
            <a:alphaModFix/>
          </a:blip>
          <a:srcRect t="7090" b="7081"/>
          <a:stretch/>
        </p:blipFill>
        <p:spPr>
          <a:xfrm>
            <a:off x="7765602" y="1908102"/>
            <a:ext cx="832706" cy="62306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7"/>
          <p:cNvSpPr txBox="1"/>
          <p:nvPr/>
        </p:nvSpPr>
        <p:spPr>
          <a:xfrm>
            <a:off x="7725717" y="2560974"/>
            <a:ext cx="900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100" b="0" i="0" u="none" strike="noStrike" cap="none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Base de datos final</a:t>
            </a:r>
            <a:endParaRPr sz="1100" b="0" i="0" u="none" strike="noStrike" cap="none">
              <a:solidFill>
                <a:schemeClr val="accent6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0" i="0" u="none" strike="noStrike" cap="none">
              <a:solidFill>
                <a:schemeClr val="lt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sp>
        <p:nvSpPr>
          <p:cNvPr id="150" name="Google Shape;150;p27"/>
          <p:cNvSpPr txBox="1"/>
          <p:nvPr/>
        </p:nvSpPr>
        <p:spPr>
          <a:xfrm>
            <a:off x="1358283" y="837850"/>
            <a:ext cx="35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lbert Sans"/>
              <a:buNone/>
            </a:pPr>
            <a:r>
              <a:rPr lang="es" sz="1400" b="0" i="0" u="none" strike="noStrike" cap="none">
                <a:solidFill>
                  <a:srgbClr val="D8D8D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1</a:t>
            </a:r>
            <a:endParaRPr sz="1400" b="0" i="0" u="none" strike="noStrike" cap="none">
              <a:solidFill>
                <a:srgbClr val="D8D8D5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1" name="Google Shape;151;p27"/>
          <p:cNvSpPr txBox="1"/>
          <p:nvPr/>
        </p:nvSpPr>
        <p:spPr>
          <a:xfrm>
            <a:off x="1372558" y="2833145"/>
            <a:ext cx="35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lbert Sans"/>
              <a:buNone/>
            </a:pPr>
            <a:r>
              <a:rPr lang="es" sz="1400" b="0" i="0" u="none" strike="noStrike" cap="none">
                <a:solidFill>
                  <a:srgbClr val="D8D8D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2</a:t>
            </a:r>
            <a:endParaRPr sz="1400" b="0" i="0" u="none" strike="noStrike" cap="none">
              <a:solidFill>
                <a:srgbClr val="D8D8D5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2" name="Google Shape;152;p27"/>
          <p:cNvSpPr txBox="1"/>
          <p:nvPr/>
        </p:nvSpPr>
        <p:spPr>
          <a:xfrm>
            <a:off x="3004219" y="1605497"/>
            <a:ext cx="35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lbert Sans"/>
              <a:buNone/>
            </a:pPr>
            <a:r>
              <a:rPr lang="es" sz="1400" b="0" i="0" u="none" strike="noStrike" cap="none">
                <a:solidFill>
                  <a:srgbClr val="D8D8D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3</a:t>
            </a:r>
            <a:endParaRPr sz="1400" b="0" i="0" u="none" strike="noStrike" cap="none">
              <a:solidFill>
                <a:srgbClr val="D8D8D5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8020819" y="1573201"/>
            <a:ext cx="35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lbert Sans"/>
              <a:buNone/>
            </a:pPr>
            <a:r>
              <a:rPr lang="es" sz="1400" b="0" i="0" u="none" strike="noStrike" cap="none">
                <a:solidFill>
                  <a:srgbClr val="D8D8D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7</a:t>
            </a:r>
            <a:endParaRPr sz="1400" b="0" i="0" u="none" strike="noStrike" cap="none">
              <a:solidFill>
                <a:srgbClr val="D8D8D5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4" name="Google Shape;154;p27"/>
          <p:cNvSpPr txBox="1"/>
          <p:nvPr/>
        </p:nvSpPr>
        <p:spPr>
          <a:xfrm>
            <a:off x="324150" y="111300"/>
            <a:ext cx="2753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lbert Sans"/>
              <a:buNone/>
            </a:pPr>
            <a:r>
              <a:rPr lang="es" sz="2000" b="0" i="0" u="none" strike="noStrike" cap="none">
                <a:solidFill>
                  <a:schemeClr val="accent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Detalles del proceso</a:t>
            </a:r>
            <a:endParaRPr sz="2000" b="0" i="0" u="none" strike="noStrike" cap="none">
              <a:solidFill>
                <a:schemeClr val="accent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pic>
        <p:nvPicPr>
          <p:cNvPr id="155" name="Google Shape;155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11785" y="2016598"/>
            <a:ext cx="848619" cy="56522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 txBox="1"/>
          <p:nvPr/>
        </p:nvSpPr>
        <p:spPr>
          <a:xfrm>
            <a:off x="6045755" y="2560975"/>
            <a:ext cx="14115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100" b="0" i="0" u="none" strike="noStrike" cap="none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Algoritmo de estimación de prioridad por existe</a:t>
            </a:r>
            <a:r>
              <a:rPr lang="es" sz="110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ncia</a:t>
            </a:r>
            <a:endParaRPr sz="1100" b="0" i="0" u="none" strike="noStrike" cap="none">
              <a:solidFill>
                <a:schemeClr val="accent6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0" i="0" u="none" strike="noStrike" cap="none">
              <a:solidFill>
                <a:schemeClr val="accent6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6585404" y="1573201"/>
            <a:ext cx="35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lbert Sans"/>
              <a:buNone/>
            </a:pPr>
            <a:r>
              <a:rPr lang="es" sz="1400" b="0" i="0" u="none" strike="noStrike" cap="none">
                <a:solidFill>
                  <a:srgbClr val="D8D8D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6</a:t>
            </a:r>
            <a:endParaRPr sz="1400" b="0" i="0" u="none" strike="noStrike" cap="none">
              <a:solidFill>
                <a:srgbClr val="D8D8D5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pic>
        <p:nvPicPr>
          <p:cNvPr id="158" name="Google Shape;15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2971" y="1908102"/>
            <a:ext cx="848619" cy="5652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27"/>
          <p:cNvCxnSpPr/>
          <p:nvPr/>
        </p:nvCxnSpPr>
        <p:spPr>
          <a:xfrm>
            <a:off x="1989985" y="1529711"/>
            <a:ext cx="717900" cy="630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D4D5D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0" name="Google Shape;160;p27"/>
          <p:cNvCxnSpPr/>
          <p:nvPr/>
        </p:nvCxnSpPr>
        <p:spPr>
          <a:xfrm rot="10800000" flipH="1">
            <a:off x="3621555" y="1939912"/>
            <a:ext cx="442800" cy="252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D4D5D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1" name="Google Shape;161;p27"/>
          <p:cNvCxnSpPr/>
          <p:nvPr/>
        </p:nvCxnSpPr>
        <p:spPr>
          <a:xfrm>
            <a:off x="3621555" y="2464039"/>
            <a:ext cx="442800" cy="347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D4D5D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2" name="Google Shape;162;p27"/>
          <p:cNvCxnSpPr/>
          <p:nvPr/>
        </p:nvCxnSpPr>
        <p:spPr>
          <a:xfrm>
            <a:off x="5807374" y="1988340"/>
            <a:ext cx="442800" cy="192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D4D5D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3" name="Google Shape;163;p27"/>
          <p:cNvCxnSpPr/>
          <p:nvPr/>
        </p:nvCxnSpPr>
        <p:spPr>
          <a:xfrm rot="10800000" flipH="1">
            <a:off x="5807385" y="2393787"/>
            <a:ext cx="442800" cy="347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D4D5D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4" name="Google Shape;164;p27"/>
          <p:cNvCxnSpPr>
            <a:endCxn id="148" idx="1"/>
          </p:cNvCxnSpPr>
          <p:nvPr/>
        </p:nvCxnSpPr>
        <p:spPr>
          <a:xfrm>
            <a:off x="7302102" y="2213334"/>
            <a:ext cx="463500" cy="6300"/>
          </a:xfrm>
          <a:prstGeom prst="straightConnector1">
            <a:avLst/>
          </a:prstGeom>
          <a:noFill/>
          <a:ln w="9525" cap="flat" cmpd="sng">
            <a:solidFill>
              <a:srgbClr val="D4D5D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5" name="Google Shape;165;p27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lbert Sans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/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lbert Sans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167" name="Google Shape;167;p27"/>
          <p:cNvPicPr preferRelativeResize="0"/>
          <p:nvPr/>
        </p:nvPicPr>
        <p:blipFill rotWithShape="1">
          <a:blip r:embed="rId5">
            <a:alphaModFix/>
          </a:blip>
          <a:srcRect t="90" b="100"/>
          <a:stretch/>
        </p:blipFill>
        <p:spPr>
          <a:xfrm>
            <a:off x="131750" y="4779201"/>
            <a:ext cx="1236828" cy="3230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p27"/>
          <p:cNvGrpSpPr/>
          <p:nvPr/>
        </p:nvGrpSpPr>
        <p:grpSpPr>
          <a:xfrm>
            <a:off x="488635" y="1323786"/>
            <a:ext cx="525484" cy="520333"/>
            <a:chOff x="315400" y="853825"/>
            <a:chExt cx="590100" cy="667265"/>
          </a:xfrm>
        </p:grpSpPr>
        <p:pic>
          <p:nvPicPr>
            <p:cNvPr id="169" name="Google Shape;169;p27"/>
            <p:cNvPicPr preferRelativeResize="0"/>
            <p:nvPr/>
          </p:nvPicPr>
          <p:blipFill rotWithShape="1">
            <a:blip r:embed="rId6">
              <a:alphaModFix/>
            </a:blip>
            <a:srcRect r="73495"/>
            <a:stretch/>
          </p:blipFill>
          <p:spPr>
            <a:xfrm>
              <a:off x="394050" y="853825"/>
              <a:ext cx="471900" cy="474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27"/>
            <p:cNvPicPr preferRelativeResize="0"/>
            <p:nvPr/>
          </p:nvPicPr>
          <p:blipFill rotWithShape="1">
            <a:blip r:embed="rId7">
              <a:alphaModFix/>
            </a:blip>
            <a:srcRect l="30546"/>
            <a:stretch/>
          </p:blipFill>
          <p:spPr>
            <a:xfrm>
              <a:off x="315400" y="1294575"/>
              <a:ext cx="590100" cy="2265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p27"/>
          <p:cNvSpPr txBox="1"/>
          <p:nvPr/>
        </p:nvSpPr>
        <p:spPr>
          <a:xfrm>
            <a:off x="5006025" y="1708675"/>
            <a:ext cx="826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000" b="1" i="0" u="none" strike="noStrike" cap="none">
                <a:solidFill>
                  <a:srgbClr val="EEFF41"/>
                </a:solidFill>
                <a:latin typeface="Albert Sans"/>
                <a:ea typeface="Albert Sans"/>
                <a:cs typeface="Albert Sans"/>
                <a:sym typeface="Albert Sans"/>
              </a:rPr>
              <a:t>C. Match</a:t>
            </a:r>
            <a:endParaRPr sz="1000" b="1" i="0" u="none" strike="noStrike" cap="none">
              <a:solidFill>
                <a:srgbClr val="EEFF4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000" b="1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4797813" y="1688304"/>
            <a:ext cx="35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lbert Sans"/>
              <a:buNone/>
            </a:pPr>
            <a:r>
              <a:rPr lang="es" sz="1400" b="0" i="0" u="none" strike="noStrike" cap="none">
                <a:solidFill>
                  <a:srgbClr val="D8D8D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4</a:t>
            </a:r>
            <a:endParaRPr sz="1400" b="0" i="0" u="none" strike="noStrike" cap="none">
              <a:solidFill>
                <a:srgbClr val="D8D8D5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4859802" y="2620250"/>
            <a:ext cx="111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lbert Sans"/>
              <a:buNone/>
            </a:pPr>
            <a:r>
              <a:rPr lang="es" sz="1000" b="1" i="0" u="none" strike="noStrike" cap="none">
                <a:solidFill>
                  <a:srgbClr val="EEFF41"/>
                </a:solidFill>
                <a:latin typeface="Albert Sans"/>
                <a:ea typeface="Albert Sans"/>
                <a:cs typeface="Albert Sans"/>
                <a:sym typeface="Albert Sans"/>
              </a:rPr>
              <a:t>C. No Match</a:t>
            </a:r>
            <a:endParaRPr sz="1000" b="1" i="0" u="none" strike="noStrike" cap="none">
              <a:solidFill>
                <a:srgbClr val="EEFF4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lbert Sans"/>
              <a:buNone/>
            </a:pPr>
            <a:r>
              <a:rPr lang="es" sz="1000" b="1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br>
              <a:rPr lang="es" sz="1000" b="1" i="0" u="none" strike="noStrike" cap="none">
                <a:solidFill>
                  <a:srgbClr val="EEFF4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sz="1000" b="1" i="0" u="none" strike="noStrike" cap="none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4761690" y="2591644"/>
            <a:ext cx="35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lbert Sans"/>
              <a:buNone/>
            </a:pPr>
            <a:r>
              <a:rPr lang="es" sz="1400" b="0" i="0" u="none" strike="noStrike" cap="none">
                <a:solidFill>
                  <a:srgbClr val="D8D8D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5</a:t>
            </a:r>
            <a:endParaRPr sz="1400" b="0" i="0" u="none" strike="noStrike" cap="none">
              <a:solidFill>
                <a:srgbClr val="D8D8D5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75" name="Google Shape;175;p27"/>
          <p:cNvSpPr/>
          <p:nvPr/>
        </p:nvSpPr>
        <p:spPr>
          <a:xfrm>
            <a:off x="2700050" y="2315888"/>
            <a:ext cx="396600" cy="198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176" name="Google Shape;176;p27"/>
          <p:cNvCxnSpPr>
            <a:stCxn id="143" idx="3"/>
            <a:endCxn id="175" idx="1"/>
          </p:cNvCxnSpPr>
          <p:nvPr/>
        </p:nvCxnSpPr>
        <p:spPr>
          <a:xfrm rot="10800000" flipH="1">
            <a:off x="1958729" y="2415155"/>
            <a:ext cx="741300" cy="1040700"/>
          </a:xfrm>
          <a:prstGeom prst="bentConnector3">
            <a:avLst>
              <a:gd name="adj1" fmla="val 53116"/>
            </a:avLst>
          </a:prstGeom>
          <a:noFill/>
          <a:ln w="9525" cap="flat" cmpd="sng">
            <a:solidFill>
              <a:srgbClr val="D4D5D6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77" name="Google Shape;177;p2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58423" y="3383750"/>
            <a:ext cx="910586" cy="25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8"/>
          <p:cNvPicPr preferRelativeResize="0"/>
          <p:nvPr/>
        </p:nvPicPr>
        <p:blipFill rotWithShape="1">
          <a:blip r:embed="rId3">
            <a:alphaModFix/>
          </a:blip>
          <a:srcRect t="2678" b="2678"/>
          <a:stretch/>
        </p:blipFill>
        <p:spPr>
          <a:xfrm>
            <a:off x="-553675" y="0"/>
            <a:ext cx="3298775" cy="468404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8"/>
          <p:cNvSpPr/>
          <p:nvPr/>
        </p:nvSpPr>
        <p:spPr>
          <a:xfrm>
            <a:off x="3001050" y="228625"/>
            <a:ext cx="28044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000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PROSPECCIÓN DIGITAL</a:t>
            </a:r>
            <a:endParaRPr sz="1000">
              <a:solidFill>
                <a:srgbClr val="999EA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85" name="Google Shape;185;p28"/>
          <p:cNvSpPr/>
          <p:nvPr/>
        </p:nvSpPr>
        <p:spPr>
          <a:xfrm>
            <a:off x="6495425" y="228625"/>
            <a:ext cx="2206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000">
                <a:solidFill>
                  <a:srgbClr val="999EA6"/>
                </a:solidFill>
                <a:latin typeface="Space Grotesk"/>
                <a:ea typeface="Space Grotesk"/>
                <a:cs typeface="Space Grotesk"/>
                <a:sym typeface="Space Grotesk"/>
              </a:rPr>
              <a:t>PD</a:t>
            </a:r>
            <a:endParaRPr sz="1000" i="0" u="none" strike="noStrike" cap="none">
              <a:solidFill>
                <a:srgbClr val="999EA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28"/>
          <p:cNvSpPr txBox="1"/>
          <p:nvPr/>
        </p:nvSpPr>
        <p:spPr>
          <a:xfrm>
            <a:off x="2928825" y="538300"/>
            <a:ext cx="5500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Lógica del algoritmo</a:t>
            </a:r>
            <a:endParaRPr sz="2000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87" name="Google Shape;187;p28"/>
          <p:cNvSpPr txBox="1"/>
          <p:nvPr/>
        </p:nvSpPr>
        <p:spPr>
          <a:xfrm>
            <a:off x="2928825" y="893200"/>
            <a:ext cx="57729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None/>
            </a:pP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El algoritmo asigna un 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score de similitud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(de 0% a 100%) para comparar puntos de venta con clientes existentes. Esto permite identificar qué clientes ya están en la base de datos (</a:t>
            </a:r>
            <a:r>
              <a:rPr lang="es" sz="1100" b="1">
                <a:solidFill>
                  <a:srgbClr val="93C47D"/>
                </a:solidFill>
                <a:latin typeface="Albert Sans"/>
                <a:ea typeface="Albert Sans"/>
                <a:cs typeface="Albert Sans"/>
                <a:sym typeface="Albert Sans"/>
              </a:rPr>
              <a:t>match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) y cuáles son nuevos posibles clientes (</a:t>
            </a:r>
            <a:r>
              <a:rPr lang="es" sz="1100" b="1">
                <a:solidFill>
                  <a:srgbClr val="E06666"/>
                </a:solidFill>
                <a:highlight>
                  <a:schemeClr val="lt1"/>
                </a:highlight>
                <a:latin typeface="Albert Sans"/>
                <a:ea typeface="Albert Sans"/>
                <a:cs typeface="Albert Sans"/>
                <a:sym typeface="Albert Sans"/>
              </a:rPr>
              <a:t>No Match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). Utiliza 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inteligencia artificial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para analizar textos y datos de ubicación geográfica.</a:t>
            </a: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None/>
            </a:pP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El proceso compara características como:</a:t>
            </a: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Nombre y fonética: 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Similitud en los nombres.</a:t>
            </a: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Ubicación geográfica: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Distancia entre los puntos.</a:t>
            </a: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Dirección: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Concordancia en la ubicación, si está disponible.</a:t>
            </a: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Es un proceso iterativo que ajusta el peso de cada característica para calcular un score final. Luego, se establece un umbral para clasificar los puntos como match o </a:t>
            </a:r>
            <a:r>
              <a:rPr lang="es" sz="1100" b="1">
                <a:solidFill>
                  <a:srgbClr val="E06666"/>
                </a:solidFill>
                <a:highlight>
                  <a:schemeClr val="lt1"/>
                </a:highlight>
                <a:latin typeface="Albert Sans"/>
                <a:ea typeface="Albert Sans"/>
                <a:cs typeface="Albert Sans"/>
                <a:sym typeface="Albert Sans"/>
              </a:rPr>
              <a:t>No Match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.</a:t>
            </a: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222326"/>
                </a:solidFill>
                <a:highlight>
                  <a:schemeClr val="lt1"/>
                </a:highlight>
                <a:latin typeface="Albert Sans"/>
                <a:ea typeface="Albert Sans"/>
                <a:cs typeface="Albert Sans"/>
                <a:sym typeface="Albert Sans"/>
              </a:rPr>
              <a:t>Los puntos </a:t>
            </a:r>
            <a:r>
              <a:rPr lang="es" sz="1100" b="1">
                <a:solidFill>
                  <a:srgbClr val="E06666"/>
                </a:solidFill>
                <a:highlight>
                  <a:schemeClr val="lt1"/>
                </a:highlight>
                <a:latin typeface="Albert Sans"/>
                <a:ea typeface="Albert Sans"/>
                <a:cs typeface="Albert Sans"/>
                <a:sym typeface="Albert Sans"/>
              </a:rPr>
              <a:t>No Match</a:t>
            </a:r>
            <a:r>
              <a:rPr lang="es" sz="1100">
                <a:solidFill>
                  <a:srgbClr val="222326"/>
                </a:solidFill>
                <a:highlight>
                  <a:schemeClr val="lt1"/>
                </a:highlight>
                <a:latin typeface="Albert Sans"/>
                <a:ea typeface="Albert Sans"/>
                <a:cs typeface="Albert Sans"/>
                <a:sym typeface="Albert Sans"/>
              </a:rPr>
              <a:t> son comercios que se encuentran fuera del maestro de clientes por alguna de las siguientes razones:</a:t>
            </a:r>
            <a:endParaRPr sz="1100">
              <a:solidFill>
                <a:srgbClr val="222326"/>
              </a:solidFill>
              <a:highlight>
                <a:schemeClr val="lt1"/>
              </a:highlight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None/>
            </a:pPr>
            <a:endParaRPr sz="1100">
              <a:solidFill>
                <a:srgbClr val="222326"/>
              </a:solidFill>
              <a:highlight>
                <a:schemeClr val="lt1"/>
              </a:highlight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>
                <a:solidFill>
                  <a:srgbClr val="222326"/>
                </a:solidFill>
                <a:highlight>
                  <a:schemeClr val="lt1"/>
                </a:highlight>
                <a:latin typeface="Albert Sans"/>
                <a:ea typeface="Albert Sans"/>
                <a:cs typeface="Albert Sans"/>
                <a:sym typeface="Albert Sans"/>
              </a:rPr>
              <a:t>Compra productos de la marca por medio de un tercero (Distribuidor)</a:t>
            </a:r>
            <a:endParaRPr sz="1100">
              <a:solidFill>
                <a:srgbClr val="222326"/>
              </a:solidFill>
              <a:highlight>
                <a:schemeClr val="lt1"/>
              </a:highlight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>
                <a:solidFill>
                  <a:srgbClr val="222326"/>
                </a:solidFill>
                <a:highlight>
                  <a:schemeClr val="lt1"/>
                </a:highlight>
                <a:latin typeface="Albert Sans"/>
                <a:ea typeface="Albert Sans"/>
                <a:cs typeface="Albert Sans"/>
                <a:sym typeface="Albert Sans"/>
              </a:rPr>
              <a:t>Es un comercio no atendido por la embotelladora</a:t>
            </a:r>
            <a:endParaRPr sz="1100">
              <a:solidFill>
                <a:srgbClr val="222326"/>
              </a:solidFill>
              <a:highlight>
                <a:schemeClr val="lt1"/>
              </a:highlight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>
                <a:solidFill>
                  <a:srgbClr val="222326"/>
                </a:solidFill>
                <a:highlight>
                  <a:schemeClr val="lt1"/>
                </a:highlight>
                <a:latin typeface="Albert Sans"/>
                <a:ea typeface="Albert Sans"/>
                <a:cs typeface="Albert Sans"/>
                <a:sym typeface="Albert Sans"/>
              </a:rPr>
              <a:t>Los comercios no son manejantes de bebidas NARTD</a:t>
            </a:r>
            <a:endParaRPr sz="1100">
              <a:solidFill>
                <a:srgbClr val="222326"/>
              </a:solidFill>
              <a:highlight>
                <a:schemeClr val="lt1"/>
              </a:highlight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>
                <a:solidFill>
                  <a:srgbClr val="222326"/>
                </a:solidFill>
                <a:highlight>
                  <a:schemeClr val="lt1"/>
                </a:highlight>
                <a:latin typeface="Albert Sans"/>
                <a:ea typeface="Albert Sans"/>
                <a:cs typeface="Albert Sans"/>
                <a:sym typeface="Albert Sans"/>
              </a:rPr>
              <a:t>El comercio ha cerrado o se ha trasladado </a:t>
            </a: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None/>
            </a:pP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None/>
            </a:pP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8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/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191" name="Google Shape;19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/>
        </p:nvSpPr>
        <p:spPr>
          <a:xfrm>
            <a:off x="410700" y="624626"/>
            <a:ext cx="8322600" cy="39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lbert Sans"/>
              <a:buNone/>
            </a:pPr>
            <a:r>
              <a:rPr lang="es" sz="105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El objetivo de este proceso es brindar una métrica que representa la probabilidad de existencia de un </a:t>
            </a:r>
            <a:r>
              <a:rPr lang="es" sz="105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POS </a:t>
            </a:r>
            <a:r>
              <a:rPr lang="es" sz="105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 acuerdo con la información disponible.</a:t>
            </a:r>
            <a:br>
              <a:rPr lang="es" sz="105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sz="105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05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Variables clave</a:t>
            </a:r>
            <a:endParaRPr sz="105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914400" marR="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Char char="○"/>
            </a:pPr>
            <a:r>
              <a:rPr lang="es" sz="105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Popularidad histórica (últimos 6 meses): recuento ponderado de impresiones.</a:t>
            </a:r>
            <a:endParaRPr sz="105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914400" marR="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Char char="○"/>
            </a:pPr>
            <a:r>
              <a:rPr lang="es" sz="105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Número de reseñas: Cantidad de reseñas normalizadas.</a:t>
            </a:r>
            <a:endParaRPr sz="105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914400" marR="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Char char="○"/>
            </a:pPr>
            <a:r>
              <a:rPr lang="es" sz="105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Validity Score: índice/puntaje de confianza de los datos medido por </a:t>
            </a:r>
            <a:r>
              <a:rPr lang="es" sz="105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Dataplor</a:t>
            </a:r>
            <a:r>
              <a:rPr lang="es" sz="105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.</a:t>
            </a:r>
            <a:endParaRPr sz="105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9144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52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lbert Sans"/>
              <a:buChar char="●"/>
            </a:pPr>
            <a:r>
              <a:rPr lang="es" sz="105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Segmentación por canal</a:t>
            </a:r>
            <a:endParaRPr sz="105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914400" marR="0" lvl="1" indent="-2952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lbert Sans"/>
              <a:buChar char="○"/>
            </a:pPr>
            <a:r>
              <a:rPr lang="es" sz="105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On Premise (restaurantes, bares, hoteles, gym, etc.)</a:t>
            </a:r>
            <a:endParaRPr sz="105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914400" marR="0" lvl="1" indent="-2952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lbert Sans"/>
              <a:buChar char="○"/>
            </a:pPr>
            <a:r>
              <a:rPr lang="es" sz="105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Off Premise (supermercados, farmacias, tiendas, gasolineras, etc.)</a:t>
            </a:r>
            <a:endParaRPr sz="105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9144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52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lbert Sans"/>
              <a:buChar char="●"/>
            </a:pPr>
            <a:r>
              <a:rPr lang="es" sz="105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Score Combinado</a:t>
            </a:r>
            <a:endParaRPr sz="105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914400" marR="0" lvl="1" indent="-2952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lbert Sans"/>
              <a:buChar char="○"/>
            </a:pPr>
            <a:r>
              <a:rPr lang="es" sz="105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Normalización por canal.</a:t>
            </a:r>
            <a:endParaRPr sz="105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914400" marR="0" lvl="1" indent="-2952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lbert Sans"/>
              <a:buChar char="○"/>
            </a:pPr>
            <a:r>
              <a:rPr lang="es" sz="105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Pesos para cada una de las variables clave.</a:t>
            </a:r>
            <a:endParaRPr sz="105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9144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52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lbert Sans"/>
              <a:buChar char="●"/>
            </a:pPr>
            <a:r>
              <a:rPr lang="es" sz="105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Clasificación Final - </a:t>
            </a:r>
            <a:r>
              <a:rPr lang="es" sz="105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Usamos umbrales sobre el score combinado.</a:t>
            </a:r>
            <a:endParaRPr sz="105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914400" marR="0" lvl="1" indent="-2952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lbert Sans"/>
              <a:buChar char="○"/>
            </a:pPr>
            <a:r>
              <a:rPr lang="es" sz="1050" b="1" dirty="0">
                <a:solidFill>
                  <a:schemeClr val="dk1"/>
                </a:solidFill>
                <a:highlight>
                  <a:srgbClr val="F8696B"/>
                </a:highlight>
                <a:latin typeface="Albert Sans"/>
                <a:ea typeface="Albert Sans"/>
                <a:cs typeface="Albert Sans"/>
                <a:sym typeface="Albert Sans"/>
              </a:rPr>
              <a:t>Low:</a:t>
            </a:r>
            <a:r>
              <a:rPr lang="es" sz="105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0.00 – 0.30</a:t>
            </a:r>
            <a:endParaRPr sz="105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914400" marR="0" lvl="1" indent="-2952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lbert Sans"/>
              <a:buChar char="○"/>
            </a:pPr>
            <a:r>
              <a:rPr lang="es" sz="1050" b="1" dirty="0">
                <a:solidFill>
                  <a:schemeClr val="dk1"/>
                </a:solidFill>
                <a:highlight>
                  <a:srgbClr val="FED980"/>
                </a:highlight>
                <a:latin typeface="Albert Sans"/>
                <a:ea typeface="Albert Sans"/>
                <a:cs typeface="Albert Sans"/>
                <a:sym typeface="Albert Sans"/>
              </a:rPr>
              <a:t>Moderate: </a:t>
            </a:r>
            <a:r>
              <a:rPr lang="es" sz="105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0.30 – 0.50</a:t>
            </a:r>
            <a:endParaRPr sz="105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914400" marR="0" lvl="1" indent="-2952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lbert Sans"/>
              <a:buChar char="○"/>
            </a:pPr>
            <a:r>
              <a:rPr lang="es" sz="1050" b="1" dirty="0">
                <a:solidFill>
                  <a:schemeClr val="dk1"/>
                </a:solidFill>
                <a:highlight>
                  <a:srgbClr val="A0D07F"/>
                </a:highlight>
                <a:latin typeface="Albert Sans"/>
                <a:ea typeface="Albert Sans"/>
                <a:cs typeface="Albert Sans"/>
                <a:sym typeface="Albert Sans"/>
              </a:rPr>
              <a:t>High:</a:t>
            </a:r>
            <a:r>
              <a:rPr lang="es" sz="105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" sz="105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0.50 – 1.00</a:t>
            </a:r>
            <a:endParaRPr sz="105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304800" y="115350"/>
            <a:ext cx="83226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lbert Sans"/>
              <a:buNone/>
            </a:pPr>
            <a:r>
              <a:rPr lang="es" sz="2000" dirty="0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Sistema de Priorización de Prospección</a:t>
            </a:r>
            <a:endParaRPr sz="2000" dirty="0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98" name="Google Shape;198;p29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lbert Sans"/>
              <a:buNone/>
            </a:pPr>
            <a:endParaRPr sz="1400" b="0" i="0" u="none" strike="noStrike" cap="non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99" name="Google Shape;199;p29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lbert Sans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/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200" name="Google Shape;200;p29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lbert Sans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201" name="Google Shape;20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>
            <a:spLocks noGrp="1"/>
          </p:cNvSpPr>
          <p:nvPr>
            <p:ph type="title"/>
          </p:nvPr>
        </p:nvSpPr>
        <p:spPr>
          <a:xfrm>
            <a:off x="6274750" y="2438425"/>
            <a:ext cx="17727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 sz="2300">
                <a:solidFill>
                  <a:srgbClr val="E5FF01"/>
                </a:solidFill>
              </a:rPr>
              <a:t>Resultados</a:t>
            </a:r>
            <a:endParaRPr sz="2300">
              <a:solidFill>
                <a:srgbClr val="E5FF0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/>
          <p:cNvSpPr txBox="1"/>
          <p:nvPr/>
        </p:nvSpPr>
        <p:spPr>
          <a:xfrm>
            <a:off x="282600" y="2243895"/>
            <a:ext cx="8578800" cy="105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100" dirty="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	</a:t>
            </a:r>
            <a:r>
              <a:rPr lang="es" sz="1100" dirty="0">
                <a:solidFill>
                  <a:srgbClr val="FF9900"/>
                </a:solidFill>
                <a:latin typeface="Albert Sans"/>
                <a:ea typeface="Albert Sans"/>
                <a:cs typeface="Albert Sans"/>
                <a:sym typeface="Albert Sans"/>
              </a:rPr>
              <a:t>High Confidence</a:t>
            </a:r>
            <a:r>
              <a:rPr lang="es" sz="1100" dirty="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 		</a:t>
            </a:r>
            <a:r>
              <a:rPr lang="es" sz="1100" dirty="0">
                <a:solidFill>
                  <a:srgbClr val="E06666"/>
                </a:solidFill>
                <a:latin typeface="Albert Sans"/>
                <a:ea typeface="Albert Sans"/>
                <a:cs typeface="Albert Sans"/>
                <a:sym typeface="Albert Sans"/>
              </a:rPr>
              <a:t>Low Confidence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100" dirty="0">
                <a:solidFill>
                  <a:srgbClr val="E06666"/>
                </a:solidFill>
                <a:latin typeface="Albert Sans"/>
                <a:ea typeface="Albert Sans"/>
                <a:cs typeface="Albert Sans"/>
                <a:sym typeface="Albert Sans"/>
              </a:rPr>
              <a:t>                        </a:t>
            </a:r>
            <a:r>
              <a:rPr lang="es" sz="1100" dirty="0">
                <a:solidFill>
                  <a:srgbClr val="FF9900"/>
                </a:solidFill>
                <a:latin typeface="Albert Sans"/>
                <a:ea typeface="Albert Sans"/>
                <a:cs typeface="Albert Sans"/>
                <a:sym typeface="Albert Sans"/>
              </a:rPr>
              <a:t>No-Mmatch POS</a:t>
            </a:r>
            <a:r>
              <a:rPr lang="es" sz="1100" dirty="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		  </a:t>
            </a:r>
            <a:r>
              <a:rPr lang="es" sz="1100" dirty="0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(Grey Area)</a:t>
            </a:r>
            <a:r>
              <a:rPr lang="es" sz="1100" dirty="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					                                   						            </a:t>
            </a:r>
            <a:r>
              <a:rPr lang="es" sz="1100" dirty="0">
                <a:solidFill>
                  <a:srgbClr val="FF9900"/>
                </a:solidFill>
                <a:latin typeface="Albert Sans"/>
                <a:ea typeface="Albert Sans"/>
                <a:cs typeface="Albert Sans"/>
                <a:sym typeface="Albert Sans"/>
              </a:rPr>
              <a:t>Match POS</a:t>
            </a:r>
            <a:endParaRPr sz="1100" dirty="0">
              <a:solidFill>
                <a:srgbClr val="FF9900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100" dirty="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		</a:t>
            </a:r>
            <a:endParaRPr sz="110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60" name="Google Shape;360;p36"/>
          <p:cNvSpPr/>
          <p:nvPr/>
        </p:nvSpPr>
        <p:spPr>
          <a:xfrm>
            <a:off x="417250" y="228625"/>
            <a:ext cx="53883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000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PROSPECCIÓN DIGITAL</a:t>
            </a:r>
            <a:endParaRPr sz="1000">
              <a:solidFill>
                <a:srgbClr val="999EA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61" name="Google Shape;361;p36"/>
          <p:cNvSpPr/>
          <p:nvPr/>
        </p:nvSpPr>
        <p:spPr>
          <a:xfrm>
            <a:off x="6495425" y="228625"/>
            <a:ext cx="2206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000">
                <a:solidFill>
                  <a:srgbClr val="999EA6"/>
                </a:solidFill>
                <a:latin typeface="Space Grotesk"/>
                <a:ea typeface="Space Grotesk"/>
                <a:cs typeface="Space Grotesk"/>
                <a:sym typeface="Space Grotesk"/>
              </a:rPr>
              <a:t>PD</a:t>
            </a:r>
            <a:endParaRPr sz="1000" i="0" u="none" strike="noStrike" cap="none">
              <a:solidFill>
                <a:srgbClr val="999EA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2" name="Google Shape;362;p36"/>
          <p:cNvSpPr txBox="1"/>
          <p:nvPr/>
        </p:nvSpPr>
        <p:spPr>
          <a:xfrm>
            <a:off x="417250" y="538300"/>
            <a:ext cx="8012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Punto de partida</a:t>
            </a:r>
            <a:endParaRPr sz="2000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363" name="Google Shape;363;p36"/>
          <p:cNvSpPr txBox="1"/>
          <p:nvPr/>
        </p:nvSpPr>
        <p:spPr>
          <a:xfrm>
            <a:off x="417250" y="893200"/>
            <a:ext cx="828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None/>
            </a:pPr>
            <a:r>
              <a:rPr lang="es" sz="1100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El análisis presentado tuvo en cuenta los departamentos clave de operación de la embotelladora, así como los canales de distribución identificados Tradicional y Otros, y las categorías de negocio que se exponen más adelante.</a:t>
            </a:r>
            <a:endParaRPr sz="1100" dirty="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64" name="Google Shape;364;p36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6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/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366" name="Google Shape;366;p36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367" name="Google Shape;36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6"/>
          <p:cNvSpPr txBox="1"/>
          <p:nvPr/>
        </p:nvSpPr>
        <p:spPr>
          <a:xfrm>
            <a:off x="1846140" y="3684666"/>
            <a:ext cx="26013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11111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Resumen de resultados por potencial existencia</a:t>
            </a:r>
            <a:endParaRPr dirty="0"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graphicFrame>
        <p:nvGraphicFramePr>
          <p:cNvPr id="369" name="Google Shape;369;p36"/>
          <p:cNvGraphicFramePr/>
          <p:nvPr/>
        </p:nvGraphicFramePr>
        <p:xfrm>
          <a:off x="3511700" y="1496476"/>
          <a:ext cx="2120600" cy="484800"/>
        </p:xfrm>
        <a:graphic>
          <a:graphicData uri="http://schemas.openxmlformats.org/drawingml/2006/table">
            <a:tbl>
              <a:tblPr>
                <a:noFill/>
                <a:tableStyleId>{DFC6017F-39DB-4332-BA6A-24E407F8C955}</a:tableStyleId>
              </a:tblPr>
              <a:tblGrid>
                <a:gridCol w="98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24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Dataplor</a:t>
                      </a:r>
                      <a:endParaRPr sz="1000" b="1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Embotellador</a:t>
                      </a:r>
                      <a:endParaRPr sz="1000" b="1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4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b="1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34.626</a:t>
                      </a:r>
                      <a:endParaRPr sz="900" b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b="1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229.077</a:t>
                      </a:r>
                      <a:endParaRPr sz="900" b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0" name="Google Shape;370;p36"/>
          <p:cNvGraphicFramePr/>
          <p:nvPr/>
        </p:nvGraphicFramePr>
        <p:xfrm>
          <a:off x="5174963" y="3570938"/>
          <a:ext cx="1444150" cy="838200"/>
        </p:xfrm>
        <a:graphic>
          <a:graphicData uri="http://schemas.openxmlformats.org/drawingml/2006/table">
            <a:tbl>
              <a:tblPr>
                <a:noFill/>
                <a:tableStyleId>{DFC6017F-39DB-4332-BA6A-24E407F8C955}</a:tableStyleId>
              </a:tblPr>
              <a:tblGrid>
                <a:gridCol w="8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>
                          <a:solidFill>
                            <a:srgbClr val="000000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High</a:t>
                      </a:r>
                      <a:endParaRPr sz="1000" b="1">
                        <a:solidFill>
                          <a:srgbClr val="000000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896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>
                          <a:solidFill>
                            <a:srgbClr val="000000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Moderate</a:t>
                      </a:r>
                      <a:endParaRPr sz="1000" b="1">
                        <a:solidFill>
                          <a:srgbClr val="000000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2.636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>
                          <a:solidFill>
                            <a:srgbClr val="000000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Low</a:t>
                      </a:r>
                      <a:endParaRPr sz="1000" b="1">
                        <a:solidFill>
                          <a:srgbClr val="000000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5.952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>
                          <a:solidFill>
                            <a:srgbClr val="000000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Total</a:t>
                      </a:r>
                      <a:endParaRPr sz="1000" b="1">
                        <a:solidFill>
                          <a:srgbClr val="000000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9.484</a:t>
                      </a:r>
                      <a:endParaRPr sz="1000" b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F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71" name="Google Shape;371;p36"/>
          <p:cNvGrpSpPr/>
          <p:nvPr/>
        </p:nvGrpSpPr>
        <p:grpSpPr>
          <a:xfrm>
            <a:off x="1177200" y="2056164"/>
            <a:ext cx="6999000" cy="1026420"/>
            <a:chOff x="1110638" y="3042886"/>
            <a:chExt cx="6999000" cy="992477"/>
          </a:xfrm>
        </p:grpSpPr>
        <p:cxnSp>
          <p:nvCxnSpPr>
            <p:cNvPr id="372" name="Google Shape;372;p36"/>
            <p:cNvCxnSpPr/>
            <p:nvPr/>
          </p:nvCxnSpPr>
          <p:spPr>
            <a:xfrm>
              <a:off x="1110638" y="4026363"/>
              <a:ext cx="6999000" cy="9000"/>
            </a:xfrm>
            <a:prstGeom prst="straightConnector1">
              <a:avLst/>
            </a:prstGeom>
            <a:noFill/>
            <a:ln w="38100" cap="flat" cmpd="sng">
              <a:solidFill>
                <a:srgbClr val="D4D5D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5" name="Google Shape;375;p36"/>
            <p:cNvGrpSpPr/>
            <p:nvPr/>
          </p:nvGrpSpPr>
          <p:grpSpPr>
            <a:xfrm>
              <a:off x="1125717" y="3042886"/>
              <a:ext cx="6965700" cy="342209"/>
              <a:chOff x="1144000" y="3138286"/>
              <a:chExt cx="6965700" cy="342209"/>
            </a:xfrm>
          </p:grpSpPr>
          <p:sp>
            <p:nvSpPr>
              <p:cNvPr id="376" name="Google Shape;376;p36"/>
              <p:cNvSpPr txBox="1"/>
              <p:nvPr/>
            </p:nvSpPr>
            <p:spPr>
              <a:xfrm>
                <a:off x="1144000" y="3138286"/>
                <a:ext cx="6965700" cy="342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lvl="0" algn="l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s" sz="1100" i="1" dirty="0">
                    <a:solidFill>
                      <a:srgbClr val="63BE7B"/>
                    </a:solidFill>
                  </a:rPr>
                  <a:t>No Match Category                                                           Possible Match Category</a:t>
                </a:r>
                <a:endParaRPr sz="1100" i="1" dirty="0">
                  <a:solidFill>
                    <a:srgbClr val="63BE7B"/>
                  </a:solidFill>
                </a:endParaRPr>
              </a:p>
            </p:txBody>
          </p:sp>
          <p:cxnSp>
            <p:nvCxnSpPr>
              <p:cNvPr id="377" name="Google Shape;377;p36"/>
              <p:cNvCxnSpPr>
                <a:cxnSpLocks/>
              </p:cNvCxnSpPr>
              <p:nvPr/>
            </p:nvCxnSpPr>
            <p:spPr>
              <a:xfrm>
                <a:off x="2509291" y="3309390"/>
                <a:ext cx="2111684" cy="10371"/>
              </a:xfrm>
              <a:prstGeom prst="straightConnector1">
                <a:avLst/>
              </a:prstGeom>
              <a:noFill/>
              <a:ln w="9525" cap="flat" cmpd="sng">
                <a:solidFill>
                  <a:srgbClr val="63BE7B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8" name="Google Shape;378;p36"/>
              <p:cNvCxnSpPr/>
              <p:nvPr/>
            </p:nvCxnSpPr>
            <p:spPr>
              <a:xfrm>
                <a:off x="6277350" y="3331519"/>
                <a:ext cx="1812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3BE7B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79" name="Google Shape;379;p36"/>
          <p:cNvSpPr txBox="1"/>
          <p:nvPr/>
        </p:nvSpPr>
        <p:spPr>
          <a:xfrm>
            <a:off x="853140" y="2609761"/>
            <a:ext cx="1986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chemeClr val="dk1"/>
                </a:solidFill>
                <a:highlight>
                  <a:srgbClr val="93C47D"/>
                </a:highlight>
                <a:latin typeface="Albert Sans"/>
                <a:ea typeface="Albert Sans"/>
                <a:cs typeface="Albert Sans"/>
                <a:sym typeface="Albert Sans"/>
              </a:rPr>
              <a:t>896 high</a:t>
            </a:r>
            <a:r>
              <a:rPr lang="es" sz="1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&amp; </a:t>
            </a:r>
            <a:r>
              <a:rPr lang="es" sz="1000" b="1" dirty="0">
                <a:solidFill>
                  <a:schemeClr val="dk1"/>
                </a:solidFill>
                <a:highlight>
                  <a:srgbClr val="FFE599"/>
                </a:highlight>
                <a:latin typeface="Albert Sans"/>
                <a:ea typeface="Albert Sans"/>
                <a:cs typeface="Albert Sans"/>
                <a:sym typeface="Albert Sans"/>
              </a:rPr>
              <a:t>2.636 moderate no-match</a:t>
            </a:r>
            <a:endParaRPr dirty="0">
              <a:highlight>
                <a:srgbClr val="FFE599"/>
              </a:highlight>
            </a:endParaRPr>
          </a:p>
        </p:txBody>
      </p:sp>
      <p:sp>
        <p:nvSpPr>
          <p:cNvPr id="380" name="Google Shape;380;p36"/>
          <p:cNvSpPr txBox="1"/>
          <p:nvPr/>
        </p:nvSpPr>
        <p:spPr>
          <a:xfrm>
            <a:off x="3478325" y="2701425"/>
            <a:ext cx="198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chemeClr val="dk1"/>
                </a:solidFill>
                <a:highlight>
                  <a:srgbClr val="EA9999"/>
                </a:highlight>
                <a:latin typeface="Albert Sans"/>
                <a:ea typeface="Albert Sans"/>
                <a:cs typeface="Albert Sans"/>
                <a:sym typeface="Albert Sans"/>
              </a:rPr>
              <a:t>5.952 no-match</a:t>
            </a:r>
            <a:endParaRPr dirty="0">
              <a:highlight>
                <a:srgbClr val="EA9999"/>
              </a:highlight>
            </a:endParaRPr>
          </a:p>
        </p:txBody>
      </p:sp>
      <p:sp>
        <p:nvSpPr>
          <p:cNvPr id="381" name="Google Shape;381;p36"/>
          <p:cNvSpPr txBox="1"/>
          <p:nvPr/>
        </p:nvSpPr>
        <p:spPr>
          <a:xfrm>
            <a:off x="6103510" y="2721452"/>
            <a:ext cx="1239192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25.142 Match</a:t>
            </a:r>
            <a:endParaRPr/>
          </a:p>
        </p:txBody>
      </p:sp>
      <p:cxnSp>
        <p:nvCxnSpPr>
          <p:cNvPr id="382" name="Google Shape;382;p36"/>
          <p:cNvCxnSpPr/>
          <p:nvPr/>
        </p:nvCxnSpPr>
        <p:spPr>
          <a:xfrm>
            <a:off x="4030725" y="1991825"/>
            <a:ext cx="5400" cy="209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7"/>
          <p:cNvSpPr/>
          <p:nvPr/>
        </p:nvSpPr>
        <p:spPr>
          <a:xfrm>
            <a:off x="417250" y="228625"/>
            <a:ext cx="53883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000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PROSPECCIÓN DIGITAL</a:t>
            </a:r>
            <a:endParaRPr sz="1000">
              <a:solidFill>
                <a:srgbClr val="999EA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89" name="Google Shape;389;p37"/>
          <p:cNvSpPr/>
          <p:nvPr/>
        </p:nvSpPr>
        <p:spPr>
          <a:xfrm>
            <a:off x="6495425" y="228625"/>
            <a:ext cx="2206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000">
                <a:solidFill>
                  <a:srgbClr val="999EA6"/>
                </a:solidFill>
                <a:latin typeface="Space Grotesk"/>
                <a:ea typeface="Space Grotesk"/>
                <a:cs typeface="Space Grotesk"/>
                <a:sym typeface="Space Grotesk"/>
              </a:rPr>
              <a:t>PD</a:t>
            </a:r>
            <a:endParaRPr sz="1000" i="0" u="none" strike="noStrike" cap="none">
              <a:solidFill>
                <a:srgbClr val="999EA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90" name="Google Shape;390;p37"/>
          <p:cNvSpPr txBox="1"/>
          <p:nvPr/>
        </p:nvSpPr>
        <p:spPr>
          <a:xfrm>
            <a:off x="417250" y="538300"/>
            <a:ext cx="8012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None/>
            </a:pPr>
            <a:r>
              <a:rPr lang="es" sz="2000" dirty="0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Resumen de resultados</a:t>
            </a:r>
            <a:endParaRPr sz="2000" dirty="0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391" name="Google Shape;391;p37"/>
          <p:cNvSpPr txBox="1"/>
          <p:nvPr/>
        </p:nvSpPr>
        <p:spPr>
          <a:xfrm>
            <a:off x="429750" y="893200"/>
            <a:ext cx="82845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A continuación se presenta el potencial total identificado en la prospección digital, desglosado por departamento y canal. Esta vista permite priorizar mercados con mayor concentración de puntos 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High 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y 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Moderate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, tanto en 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Off Premise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como en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On Premise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, para enfocar los esfuerzos comerciales donde el impacto puede ser más alto.</a:t>
            </a: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92" name="Google Shape;392;p37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37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/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394" name="Google Shape;394;p37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395" name="Google Shape;39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7"/>
          <p:cNvSpPr txBox="1"/>
          <p:nvPr/>
        </p:nvSpPr>
        <p:spPr>
          <a:xfrm>
            <a:off x="1530025" y="1663038"/>
            <a:ext cx="2901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11111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Resumen de resultados*</a:t>
            </a:r>
            <a:endParaRPr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397" name="Google Shape;397;p37"/>
          <p:cNvSpPr txBox="1"/>
          <p:nvPr/>
        </p:nvSpPr>
        <p:spPr>
          <a:xfrm>
            <a:off x="5637900" y="2830600"/>
            <a:ext cx="3319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22326"/>
                </a:solidFill>
                <a:highlight>
                  <a:srgbClr val="E5FF01"/>
                </a:highlight>
                <a:latin typeface="Albert Sans"/>
                <a:ea typeface="Albert Sans"/>
                <a:cs typeface="Albert Sans"/>
                <a:sym typeface="Albert Sans"/>
              </a:rPr>
              <a:t>Los </a:t>
            </a:r>
            <a:r>
              <a:rPr lang="es" sz="1200" b="1">
                <a:solidFill>
                  <a:srgbClr val="222326"/>
                </a:solidFill>
                <a:highlight>
                  <a:srgbClr val="E5FF01"/>
                </a:highlight>
                <a:latin typeface="Albert Sans"/>
                <a:ea typeface="Albert Sans"/>
                <a:cs typeface="Albert Sans"/>
                <a:sym typeface="Albert Sans"/>
              </a:rPr>
              <a:t>5 principales departamentos</a:t>
            </a:r>
            <a:r>
              <a:rPr lang="es" sz="1200">
                <a:solidFill>
                  <a:srgbClr val="222326"/>
                </a:solidFill>
                <a:highlight>
                  <a:srgbClr val="E5FF01"/>
                </a:highlight>
                <a:latin typeface="Albert Sans"/>
                <a:ea typeface="Albert Sans"/>
                <a:cs typeface="Albert Sans"/>
                <a:sym typeface="Albert Sans"/>
              </a:rPr>
              <a:t> abarcan </a:t>
            </a:r>
            <a:r>
              <a:rPr lang="es" sz="1200" b="1">
                <a:solidFill>
                  <a:srgbClr val="222326"/>
                </a:solidFill>
                <a:highlight>
                  <a:srgbClr val="E5FF01"/>
                </a:highlight>
                <a:latin typeface="Albert Sans"/>
                <a:ea typeface="Albert Sans"/>
                <a:cs typeface="Albert Sans"/>
                <a:sym typeface="Albert Sans"/>
              </a:rPr>
              <a:t>más de 53%</a:t>
            </a:r>
            <a:r>
              <a:rPr lang="es" sz="1200">
                <a:solidFill>
                  <a:srgbClr val="222326"/>
                </a:solidFill>
                <a:highlight>
                  <a:srgbClr val="E5FF01"/>
                </a:highlight>
                <a:latin typeface="Albert Sans"/>
                <a:ea typeface="Albert Sans"/>
                <a:cs typeface="Albert Sans"/>
                <a:sym typeface="Albert Sans"/>
              </a:rPr>
              <a:t> del potencial total de High y Moderate (</a:t>
            </a:r>
            <a:r>
              <a:rPr lang="es" sz="1200" b="1">
                <a:solidFill>
                  <a:srgbClr val="222326"/>
                </a:solidFill>
                <a:highlight>
                  <a:srgbClr val="E5FF01"/>
                </a:highlight>
                <a:latin typeface="Albert Sans"/>
                <a:ea typeface="Albert Sans"/>
                <a:cs typeface="Albert Sans"/>
                <a:sym typeface="Albert Sans"/>
              </a:rPr>
              <a:t>+1,874 potenciales nuevos POS</a:t>
            </a:r>
            <a:r>
              <a:rPr lang="es" sz="1200">
                <a:solidFill>
                  <a:srgbClr val="222326"/>
                </a:solidFill>
                <a:highlight>
                  <a:srgbClr val="E5FF01"/>
                </a:highlight>
                <a:latin typeface="Albert Sans"/>
                <a:ea typeface="Albert Sans"/>
                <a:cs typeface="Albert Sans"/>
                <a:sym typeface="Albert Sans"/>
              </a:rPr>
              <a:t>) </a:t>
            </a:r>
            <a:endParaRPr sz="1200">
              <a:highlight>
                <a:srgbClr val="E5FF01"/>
              </a:highlight>
            </a:endParaRPr>
          </a:p>
        </p:txBody>
      </p:sp>
      <p:sp>
        <p:nvSpPr>
          <p:cNvPr id="398" name="Google Shape;398;p37"/>
          <p:cNvSpPr txBox="1"/>
          <p:nvPr/>
        </p:nvSpPr>
        <p:spPr>
          <a:xfrm>
            <a:off x="512225" y="4280996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* Total de High y Moderate No-Match points</a:t>
            </a:r>
            <a:endParaRPr sz="700"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399" name="Google Shape;399;p37"/>
          <p:cNvPicPr preferRelativeResize="0"/>
          <p:nvPr/>
        </p:nvPicPr>
        <p:blipFill rotWithShape="1">
          <a:blip r:embed="rId4">
            <a:alphaModFix/>
          </a:blip>
          <a:srcRect t="13787" b="10167"/>
          <a:stretch/>
        </p:blipFill>
        <p:spPr>
          <a:xfrm>
            <a:off x="341100" y="2141650"/>
            <a:ext cx="5241300" cy="188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>
          <a:extLst>
            <a:ext uri="{FF2B5EF4-FFF2-40B4-BE49-F238E27FC236}">
              <a16:creationId xmlns:a16="http://schemas.microsoft.com/office/drawing/2014/main" id="{F3E08E91-7E36-70DC-790D-72912C427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8">
            <a:extLst>
              <a:ext uri="{FF2B5EF4-FFF2-40B4-BE49-F238E27FC236}">
                <a16:creationId xmlns:a16="http://schemas.microsoft.com/office/drawing/2014/main" id="{FB9089E6-016D-6116-DEAB-4F6661BDBB69}"/>
              </a:ext>
            </a:extLst>
          </p:cNvPr>
          <p:cNvSpPr/>
          <p:nvPr/>
        </p:nvSpPr>
        <p:spPr>
          <a:xfrm>
            <a:off x="417250" y="228625"/>
            <a:ext cx="53883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000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PROSPECCIÓN DIGITAL</a:t>
            </a:r>
            <a:endParaRPr sz="1000">
              <a:solidFill>
                <a:srgbClr val="999EA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06" name="Google Shape;406;p38">
            <a:extLst>
              <a:ext uri="{FF2B5EF4-FFF2-40B4-BE49-F238E27FC236}">
                <a16:creationId xmlns:a16="http://schemas.microsoft.com/office/drawing/2014/main" id="{92D940DB-EED8-5719-7D97-311739A10707}"/>
              </a:ext>
            </a:extLst>
          </p:cNvPr>
          <p:cNvSpPr/>
          <p:nvPr/>
        </p:nvSpPr>
        <p:spPr>
          <a:xfrm>
            <a:off x="6495425" y="228625"/>
            <a:ext cx="2206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000">
                <a:solidFill>
                  <a:srgbClr val="999EA6"/>
                </a:solidFill>
                <a:latin typeface="Space Grotesk"/>
                <a:ea typeface="Space Grotesk"/>
                <a:cs typeface="Space Grotesk"/>
                <a:sym typeface="Space Grotesk"/>
              </a:rPr>
              <a:t>PD</a:t>
            </a:r>
            <a:endParaRPr sz="1000" i="0" u="none" strike="noStrike" cap="none">
              <a:solidFill>
                <a:srgbClr val="999EA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9" name="Google Shape;409;p38">
            <a:extLst>
              <a:ext uri="{FF2B5EF4-FFF2-40B4-BE49-F238E27FC236}">
                <a16:creationId xmlns:a16="http://schemas.microsoft.com/office/drawing/2014/main" id="{DA37E817-4C44-47A2-8FFA-622BC974D7F9}"/>
              </a:ext>
            </a:extLst>
          </p:cNvPr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8">
            <a:extLst>
              <a:ext uri="{FF2B5EF4-FFF2-40B4-BE49-F238E27FC236}">
                <a16:creationId xmlns:a16="http://schemas.microsoft.com/office/drawing/2014/main" id="{80A319C1-4165-738E-2F00-ADCC8BD6B465}"/>
              </a:ext>
            </a:extLst>
          </p:cNvPr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/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411" name="Google Shape;411;p38">
            <a:extLst>
              <a:ext uri="{FF2B5EF4-FFF2-40B4-BE49-F238E27FC236}">
                <a16:creationId xmlns:a16="http://schemas.microsoft.com/office/drawing/2014/main" id="{A613921E-5C17-4C1F-3C67-C520DBDCEE88}"/>
              </a:ext>
            </a:extLst>
          </p:cNvPr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412" name="Google Shape;412;p38">
            <a:extLst>
              <a:ext uri="{FF2B5EF4-FFF2-40B4-BE49-F238E27FC236}">
                <a16:creationId xmlns:a16="http://schemas.microsoft.com/office/drawing/2014/main" id="{1163A2B6-AE5B-F843-A3B4-E4479950882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8">
            <a:extLst>
              <a:ext uri="{FF2B5EF4-FFF2-40B4-BE49-F238E27FC236}">
                <a16:creationId xmlns:a16="http://schemas.microsoft.com/office/drawing/2014/main" id="{841E2352-D08D-A990-6E04-CC7B5096A92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713" y="1610975"/>
            <a:ext cx="7430775" cy="28153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90;p37">
            <a:extLst>
              <a:ext uri="{FF2B5EF4-FFF2-40B4-BE49-F238E27FC236}">
                <a16:creationId xmlns:a16="http://schemas.microsoft.com/office/drawing/2014/main" id="{2202EC3D-47BA-A076-9B86-0F95192BA4CC}"/>
              </a:ext>
            </a:extLst>
          </p:cNvPr>
          <p:cNvSpPr txBox="1"/>
          <p:nvPr/>
        </p:nvSpPr>
        <p:spPr>
          <a:xfrm>
            <a:off x="417250" y="538300"/>
            <a:ext cx="8012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None/>
            </a:pPr>
            <a:r>
              <a:rPr lang="es" sz="2000" dirty="0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Resumen de resultados</a:t>
            </a:r>
            <a:endParaRPr sz="2000" dirty="0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3" name="Google Shape;391;p37">
            <a:extLst>
              <a:ext uri="{FF2B5EF4-FFF2-40B4-BE49-F238E27FC236}">
                <a16:creationId xmlns:a16="http://schemas.microsoft.com/office/drawing/2014/main" id="{A94E3472-A902-EAA1-9F18-5BDDC6000135}"/>
              </a:ext>
            </a:extLst>
          </p:cNvPr>
          <p:cNvSpPr txBox="1"/>
          <p:nvPr/>
        </p:nvSpPr>
        <p:spPr>
          <a:xfrm>
            <a:off x="429750" y="893200"/>
            <a:ext cx="82845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lnSpc>
                <a:spcPct val="90000"/>
              </a:lnSpc>
            </a:pPr>
            <a:r>
              <a:rPr lang="es-ES" sz="1100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En la prospección digital se identifica una alta concentración de puntos por categoría. Para </a:t>
            </a:r>
            <a:r>
              <a:rPr lang="es-ES" sz="1100" b="1" dirty="0" err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On</a:t>
            </a:r>
            <a:r>
              <a:rPr lang="es-ES" sz="1100" b="1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Premise,</a:t>
            </a:r>
            <a:r>
              <a:rPr lang="es-ES" sz="1100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-ES" sz="1100" b="1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restaurant </a:t>
            </a:r>
            <a:r>
              <a:rPr lang="es-ES" sz="1100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y </a:t>
            </a:r>
            <a:r>
              <a:rPr lang="es-ES" sz="1100" b="1" dirty="0" err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coffee</a:t>
            </a:r>
            <a:r>
              <a:rPr lang="es-ES" sz="1100" b="1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shop </a:t>
            </a:r>
            <a:r>
              <a:rPr lang="es-ES" sz="1100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representan cerca del </a:t>
            </a:r>
            <a:r>
              <a:rPr lang="es-ES" sz="1100" b="1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53%</a:t>
            </a:r>
            <a:r>
              <a:rPr lang="es-ES" sz="1100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del total de oportunidad del canal. En </a:t>
            </a:r>
            <a:r>
              <a:rPr lang="es-ES" sz="1100" b="1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Off Premise,</a:t>
            </a:r>
            <a:r>
              <a:rPr lang="es-ES" sz="1100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-ES" sz="1100" b="1" dirty="0" err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grocery</a:t>
            </a:r>
            <a:r>
              <a:rPr lang="es-ES" sz="1100" b="1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store </a:t>
            </a:r>
            <a:r>
              <a:rPr lang="es-ES" sz="1100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y </a:t>
            </a:r>
            <a:r>
              <a:rPr lang="es-ES" sz="1100" b="1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gas </a:t>
            </a:r>
            <a:r>
              <a:rPr lang="es-ES" sz="1100" b="1" dirty="0" err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station</a:t>
            </a:r>
            <a:r>
              <a:rPr lang="es-ES" sz="1100" b="1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-ES" sz="1100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abarcan alrededor del</a:t>
            </a:r>
            <a:r>
              <a:rPr lang="es-ES" sz="1100" b="1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50%.</a:t>
            </a:r>
            <a:r>
              <a:rPr lang="es-ES" sz="1100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Estas categorías concentran la mayor parte del potencial y guían las prioridades comerciales.</a:t>
            </a:r>
          </a:p>
        </p:txBody>
      </p:sp>
    </p:spTree>
    <p:extLst>
      <p:ext uri="{BB962C8B-B14F-4D97-AF65-F5344CB8AC3E}">
        <p14:creationId xmlns:p14="http://schemas.microsoft.com/office/powerpoint/2010/main" val="2121658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9"/>
          <p:cNvSpPr/>
          <p:nvPr/>
        </p:nvSpPr>
        <p:spPr>
          <a:xfrm>
            <a:off x="417250" y="228625"/>
            <a:ext cx="53883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000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PROSPECCIÓN DIGITAL</a:t>
            </a:r>
            <a:endParaRPr sz="1000">
              <a:solidFill>
                <a:srgbClr val="999EA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20" name="Google Shape;420;p39"/>
          <p:cNvSpPr/>
          <p:nvPr/>
        </p:nvSpPr>
        <p:spPr>
          <a:xfrm>
            <a:off x="6495425" y="228625"/>
            <a:ext cx="2206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000">
                <a:solidFill>
                  <a:srgbClr val="999EA6"/>
                </a:solidFill>
                <a:latin typeface="Space Grotesk"/>
                <a:ea typeface="Space Grotesk"/>
                <a:cs typeface="Space Grotesk"/>
                <a:sym typeface="Space Grotesk"/>
              </a:rPr>
              <a:t>PD</a:t>
            </a:r>
            <a:endParaRPr sz="1000" i="0" u="none" strike="noStrike" cap="none">
              <a:solidFill>
                <a:srgbClr val="999EA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1" name="Google Shape;421;p39"/>
          <p:cNvSpPr txBox="1"/>
          <p:nvPr/>
        </p:nvSpPr>
        <p:spPr>
          <a:xfrm>
            <a:off x="417250" y="538300"/>
            <a:ext cx="8012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Detalle de oportunidad canal On Premise</a:t>
            </a:r>
            <a:endParaRPr sz="2000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22" name="Google Shape;422;p39"/>
          <p:cNvSpPr txBox="1"/>
          <p:nvPr/>
        </p:nvSpPr>
        <p:spPr>
          <a:xfrm>
            <a:off x="417250" y="893200"/>
            <a:ext cx="82845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Para el canal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On Premise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, la mayor parte del potencial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High–Moderate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se concentra en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Restaurant, Coffee shop, Bar, Gym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y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Cafe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que en conjunto representan más del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63% 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de la oportunidad total.</a:t>
            </a:r>
            <a:endParaRPr sz="11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Además,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Guatemala y Quetzaltenango 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destacan como los departamentos con mayor volumen de puntos High–Moderate, acumulando el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36%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del total, mientras que el resto del país concentra el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64%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restante.</a:t>
            </a:r>
            <a:endParaRPr sz="11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23" name="Google Shape;423;p39"/>
          <p:cNvSpPr/>
          <p:nvPr/>
        </p:nvSpPr>
        <p:spPr>
          <a:xfrm>
            <a:off x="0" y="4567400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9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/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425" name="Google Shape;425;p39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426" name="Google Shape;42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9"/>
          <p:cNvSpPr txBox="1"/>
          <p:nvPr/>
        </p:nvSpPr>
        <p:spPr>
          <a:xfrm>
            <a:off x="4737800" y="4089850"/>
            <a:ext cx="3868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None/>
            </a:pPr>
            <a:r>
              <a:rPr lang="es" sz="900" i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*Para esta tabla se ha seleccionado las 5 categorías con mayor oportunidad con alta probabilidad de existencia </a:t>
            </a:r>
            <a:br>
              <a:rPr lang="es" sz="900" i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r>
              <a:rPr lang="es" sz="900" i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(high y moderate no-match)</a:t>
            </a:r>
            <a:endParaRPr sz="1100" i="1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28" name="Google Shape;428;p39"/>
          <p:cNvSpPr txBox="1"/>
          <p:nvPr/>
        </p:nvSpPr>
        <p:spPr>
          <a:xfrm>
            <a:off x="576912" y="1674850"/>
            <a:ext cx="3812100" cy="3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111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No Match - probabilidad de existencia</a:t>
            </a:r>
            <a:endParaRPr sz="1300"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29" name="Google Shape;429;p39"/>
          <p:cNvSpPr txBox="1"/>
          <p:nvPr/>
        </p:nvSpPr>
        <p:spPr>
          <a:xfrm>
            <a:off x="4333250" y="1674850"/>
            <a:ext cx="4677300" cy="3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111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Oportunidad por ciudad y potencial High/Moderate*</a:t>
            </a:r>
            <a:endParaRPr sz="1300"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pic>
        <p:nvPicPr>
          <p:cNvPr id="430" name="Google Shape;430;p39"/>
          <p:cNvPicPr preferRelativeResize="0"/>
          <p:nvPr/>
        </p:nvPicPr>
        <p:blipFill rotWithShape="1">
          <a:blip r:embed="rId4">
            <a:alphaModFix/>
          </a:blip>
          <a:srcRect t="18452" r="49885" b="5207"/>
          <a:stretch/>
        </p:blipFill>
        <p:spPr>
          <a:xfrm>
            <a:off x="342738" y="2072275"/>
            <a:ext cx="4046268" cy="190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9"/>
          <p:cNvPicPr preferRelativeResize="0"/>
          <p:nvPr/>
        </p:nvPicPr>
        <p:blipFill rotWithShape="1">
          <a:blip r:embed="rId4">
            <a:alphaModFix/>
          </a:blip>
          <a:srcRect l="50343" t="18452" b="5207"/>
          <a:stretch/>
        </p:blipFill>
        <p:spPr>
          <a:xfrm>
            <a:off x="4667268" y="2061700"/>
            <a:ext cx="4009273" cy="190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0"/>
          <p:cNvSpPr/>
          <p:nvPr/>
        </p:nvSpPr>
        <p:spPr>
          <a:xfrm>
            <a:off x="417250" y="228625"/>
            <a:ext cx="53883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000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PROSPECCIÓN DIGITAL</a:t>
            </a:r>
            <a:endParaRPr sz="1000">
              <a:solidFill>
                <a:srgbClr val="999EA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38" name="Google Shape;438;p40"/>
          <p:cNvSpPr/>
          <p:nvPr/>
        </p:nvSpPr>
        <p:spPr>
          <a:xfrm>
            <a:off x="6495425" y="228625"/>
            <a:ext cx="2206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000">
                <a:solidFill>
                  <a:srgbClr val="999EA6"/>
                </a:solidFill>
                <a:latin typeface="Space Grotesk"/>
                <a:ea typeface="Space Grotesk"/>
                <a:cs typeface="Space Grotesk"/>
                <a:sym typeface="Space Grotesk"/>
              </a:rPr>
              <a:t>PD</a:t>
            </a:r>
            <a:endParaRPr sz="1000" i="0" u="none" strike="noStrike" cap="none">
              <a:solidFill>
                <a:srgbClr val="999EA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9" name="Google Shape;439;p40"/>
          <p:cNvSpPr txBox="1"/>
          <p:nvPr/>
        </p:nvSpPr>
        <p:spPr>
          <a:xfrm>
            <a:off x="417250" y="538300"/>
            <a:ext cx="8012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Detalle de oportunidad canal Off Premise</a:t>
            </a:r>
            <a:endParaRPr sz="2000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40" name="Google Shape;440;p40"/>
          <p:cNvSpPr txBox="1"/>
          <p:nvPr/>
        </p:nvSpPr>
        <p:spPr>
          <a:xfrm>
            <a:off x="417250" y="893200"/>
            <a:ext cx="82845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None/>
            </a:pP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Para el canal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Off Premise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, la mayor parte del potencial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High–Moderate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se concentra en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Grocery Store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,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Gas Station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,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Bakery, Supermarket y Wholesaler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que en conjunto representan cerca del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76%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de la oportunidad total. </a:t>
            </a:r>
            <a:endParaRPr sz="11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None/>
            </a:pP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Además, los departamentos de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Guatemala y Quetzaltenango 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aportan aproximadamente el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34% 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de este potencial, mientras que el resto del país concentra el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66%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.</a:t>
            </a:r>
            <a:endParaRPr sz="11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1" name="Google Shape;441;p40"/>
          <p:cNvSpPr/>
          <p:nvPr/>
        </p:nvSpPr>
        <p:spPr>
          <a:xfrm>
            <a:off x="0" y="4665250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40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/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443" name="Google Shape;443;p40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444" name="Google Shape;44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40"/>
          <p:cNvSpPr txBox="1"/>
          <p:nvPr/>
        </p:nvSpPr>
        <p:spPr>
          <a:xfrm>
            <a:off x="5142350" y="4113775"/>
            <a:ext cx="3868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None/>
            </a:pPr>
            <a:r>
              <a:rPr lang="es" sz="900" i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*Para esta tabla se ha seleccionado las 5 categorías con mayor oportunidad con alta probabilidad de existencia </a:t>
            </a:r>
            <a:br>
              <a:rPr lang="es" sz="900" i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r>
              <a:rPr lang="es" sz="900" i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(high y moderate no-match)</a:t>
            </a:r>
            <a:endParaRPr sz="1100" i="1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6" name="Google Shape;446;p40"/>
          <p:cNvSpPr txBox="1"/>
          <p:nvPr/>
        </p:nvSpPr>
        <p:spPr>
          <a:xfrm>
            <a:off x="510150" y="1662700"/>
            <a:ext cx="38121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None/>
            </a:pPr>
            <a:r>
              <a:rPr lang="es" sz="1300">
                <a:solidFill>
                  <a:srgbClr val="11111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No Match - probabilidad de existencia</a:t>
            </a:r>
            <a:endParaRPr sz="1300"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47" name="Google Shape;447;p40"/>
          <p:cNvSpPr txBox="1"/>
          <p:nvPr/>
        </p:nvSpPr>
        <p:spPr>
          <a:xfrm>
            <a:off x="4982300" y="1723750"/>
            <a:ext cx="39615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11111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Oportunidad por ciudad y potencial High-Moderate*</a:t>
            </a:r>
            <a:endParaRPr sz="1200">
              <a:solidFill>
                <a:srgbClr val="11111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448" name="Google Shape;448;p40"/>
          <p:cNvPicPr preferRelativeResize="0"/>
          <p:nvPr/>
        </p:nvPicPr>
        <p:blipFill rotWithShape="1">
          <a:blip r:embed="rId4">
            <a:alphaModFix/>
          </a:blip>
          <a:srcRect t="17413" r="50169" b="4814"/>
          <a:stretch/>
        </p:blipFill>
        <p:spPr>
          <a:xfrm>
            <a:off x="295813" y="2086150"/>
            <a:ext cx="4240774" cy="204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40"/>
          <p:cNvPicPr preferRelativeResize="0"/>
          <p:nvPr/>
        </p:nvPicPr>
        <p:blipFill rotWithShape="1">
          <a:blip r:embed="rId4">
            <a:alphaModFix/>
          </a:blip>
          <a:srcRect l="50169" t="17413" b="4814"/>
          <a:stretch/>
        </p:blipFill>
        <p:spPr>
          <a:xfrm>
            <a:off x="4769794" y="2086150"/>
            <a:ext cx="4240752" cy="204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/>
          <p:cNvSpPr/>
          <p:nvPr/>
        </p:nvSpPr>
        <p:spPr>
          <a:xfrm>
            <a:off x="417250" y="228500"/>
            <a:ext cx="53883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000" b="0" i="0" u="none" strike="noStrike" cap="none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PROSPECCIÓN DIGITAL</a:t>
            </a:r>
            <a:endParaRPr sz="1000" b="0" i="0" u="none" strike="noStrike" cap="none">
              <a:solidFill>
                <a:srgbClr val="999EA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56" name="Google Shape;456;p41"/>
          <p:cNvSpPr/>
          <p:nvPr/>
        </p:nvSpPr>
        <p:spPr>
          <a:xfrm>
            <a:off x="6495425" y="228500"/>
            <a:ext cx="2206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000" b="0" i="0" u="none" strike="noStrike" cap="none">
                <a:solidFill>
                  <a:srgbClr val="999EA6"/>
                </a:solidFill>
                <a:latin typeface="Space Grotesk"/>
                <a:ea typeface="Space Grotesk"/>
                <a:cs typeface="Space Grotesk"/>
                <a:sym typeface="Space Grotesk"/>
              </a:rPr>
              <a:t>PD</a:t>
            </a:r>
            <a:endParaRPr sz="1000" b="0" i="0" u="none" strike="noStrike" cap="none">
              <a:solidFill>
                <a:srgbClr val="999EA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57" name="Google Shape;457;p41"/>
          <p:cNvSpPr txBox="1"/>
          <p:nvPr/>
        </p:nvSpPr>
        <p:spPr>
          <a:xfrm>
            <a:off x="429750" y="371300"/>
            <a:ext cx="82845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lbert Sans"/>
              <a:buNone/>
            </a:pPr>
            <a:r>
              <a:rPr lang="es" sz="1700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Ciudad de Guatemala</a:t>
            </a:r>
            <a:r>
              <a:rPr lang="es" sz="1700" b="0" i="0" u="none" strike="noStrike" cap="none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 concentra la mayor cantidad de puntos con </a:t>
            </a:r>
            <a:r>
              <a:rPr lang="es" sz="1700" b="1" i="0" u="none" strike="noStrike" cap="none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rPr>
              <a:t>alta probabilidad</a:t>
            </a:r>
            <a:r>
              <a:rPr lang="es" sz="1700" b="0" i="0" u="none" strike="noStrike" cap="none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 de existencia </a:t>
            </a:r>
            <a:endParaRPr sz="1700" b="0" i="0" u="none" strike="noStrike" cap="none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58" name="Google Shape;458;p41"/>
          <p:cNvSpPr/>
          <p:nvPr/>
        </p:nvSpPr>
        <p:spPr>
          <a:xfrm>
            <a:off x="0" y="4676400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lbert Sans"/>
              <a:buNone/>
            </a:pPr>
            <a:endParaRPr sz="1400" b="0" i="0" u="none" strike="noStrike" cap="non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59" name="Google Shape;459;p41"/>
          <p:cNvSpPr txBox="1"/>
          <p:nvPr/>
        </p:nvSpPr>
        <p:spPr>
          <a:xfrm>
            <a:off x="1531850" y="4779075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lbert Sans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/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460" name="Google Shape;460;p41"/>
          <p:cNvSpPr txBox="1"/>
          <p:nvPr/>
        </p:nvSpPr>
        <p:spPr>
          <a:xfrm>
            <a:off x="7884975" y="4779075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lbert Sans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461" name="Google Shape;461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076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1"/>
          <p:cNvSpPr txBox="1"/>
          <p:nvPr/>
        </p:nvSpPr>
        <p:spPr>
          <a:xfrm>
            <a:off x="64650" y="3919725"/>
            <a:ext cx="9014700" cy="7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100" b="0" i="0" u="none" strike="noStrike" cap="none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Considerando que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Ciudad de Guatemala</a:t>
            </a:r>
            <a:r>
              <a:rPr lang="es" sz="1100" b="1" i="0" u="none" strike="noStrike" cap="none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" sz="1100" b="0" i="0" u="none" strike="noStrike" cap="none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es el mercado con la mayor concentración de puntos High y Moderate, el análisis espacial muestra 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un</a:t>
            </a:r>
            <a:r>
              <a:rPr lang="es" sz="1100" b="0" i="0" u="none" strike="noStrike" cap="none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corredor principal donde se agrupan la mayor cantidad de oportunidades.</a:t>
            </a:r>
            <a:endParaRPr sz="1100" b="0" i="0" u="none" strike="noStrike" cap="none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100" b="0" i="0" u="none" strike="noStrike" cap="none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Estas zonas que se encuentran marcadas concentran hexágonos con densidad alta y muy alta, indicando áreas prioritarias donde se recomienda focalizar los esfuerzos comerciales.</a:t>
            </a:r>
            <a:endParaRPr sz="1100" b="0" i="0" u="none" strike="noStrike" cap="none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63" name="Google Shape;46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0050" y="1093375"/>
            <a:ext cx="5054976" cy="2620512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1"/>
          <p:cNvSpPr/>
          <p:nvPr/>
        </p:nvSpPr>
        <p:spPr>
          <a:xfrm>
            <a:off x="4647425" y="1617100"/>
            <a:ext cx="439200" cy="18135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lbert Sans"/>
              <a:buNone/>
            </a:pPr>
            <a:endParaRPr sz="1700" b="0" i="0" u="none" strike="noStrike" cap="non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65" name="Google Shape;465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5950" y="1916225"/>
            <a:ext cx="959075" cy="70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7475" y="2619374"/>
            <a:ext cx="937550" cy="1094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2"/>
          <p:cNvSpPr/>
          <p:nvPr/>
        </p:nvSpPr>
        <p:spPr>
          <a:xfrm>
            <a:off x="417250" y="228625"/>
            <a:ext cx="53883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000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PROSPECCIÓN DIGITAL</a:t>
            </a:r>
            <a:endParaRPr sz="1000">
              <a:solidFill>
                <a:srgbClr val="999EA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73" name="Google Shape;473;p42"/>
          <p:cNvSpPr/>
          <p:nvPr/>
        </p:nvSpPr>
        <p:spPr>
          <a:xfrm>
            <a:off x="6495425" y="228625"/>
            <a:ext cx="2206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000">
                <a:solidFill>
                  <a:srgbClr val="999EA6"/>
                </a:solidFill>
                <a:latin typeface="Space Grotesk"/>
                <a:ea typeface="Space Grotesk"/>
                <a:cs typeface="Space Grotesk"/>
                <a:sym typeface="Space Grotesk"/>
              </a:rPr>
              <a:t>PD</a:t>
            </a:r>
            <a:endParaRPr sz="1000" i="0" u="none" strike="noStrike" cap="none">
              <a:solidFill>
                <a:srgbClr val="999EA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4" name="Google Shape;474;p42"/>
          <p:cNvSpPr txBox="1"/>
          <p:nvPr/>
        </p:nvSpPr>
        <p:spPr>
          <a:xfrm>
            <a:off x="417250" y="495700"/>
            <a:ext cx="8012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Impacto del proyecto</a:t>
            </a:r>
            <a:endParaRPr sz="2000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75" name="Google Shape;475;p42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42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/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477" name="Google Shape;477;p42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478" name="Google Shape;47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2"/>
          <p:cNvSpPr txBox="1"/>
          <p:nvPr/>
        </p:nvSpPr>
        <p:spPr>
          <a:xfrm>
            <a:off x="429950" y="802950"/>
            <a:ext cx="8387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De acuerdo a los datos y análisis mostrados, consideramos que se puede capturar valor para Femsa de la siguiente manera:</a:t>
            </a:r>
            <a:endParaRPr sz="11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80" name="Google Shape;480;p42"/>
          <p:cNvSpPr txBox="1"/>
          <p:nvPr/>
        </p:nvSpPr>
        <p:spPr>
          <a:xfrm>
            <a:off x="614850" y="1366652"/>
            <a:ext cx="7914300" cy="23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1111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Resultados esperados por etapas*</a:t>
            </a:r>
            <a:endParaRPr sz="1500"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None/>
            </a:pPr>
            <a:endParaRPr sz="12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417"/>
              </a:buClr>
              <a:buSzPts val="1200"/>
              <a:buFont typeface="Albert Sans"/>
              <a:buChar char="●"/>
            </a:pPr>
            <a:r>
              <a:rPr lang="es" sz="12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Etapa 1:</a:t>
            </a:r>
            <a:r>
              <a:rPr lang="es" sz="12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Activación de puntos high y moderate en el top 3 ciudades y top 3 categorías de negocio (+649 POS, +0.28% del portafolio actual)</a:t>
            </a:r>
            <a:br>
              <a:rPr lang="es" sz="1200">
                <a:solidFill>
                  <a:schemeClr val="dk1"/>
                </a:solidFill>
              </a:rPr>
            </a:br>
            <a:endParaRPr sz="12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417"/>
              </a:buClr>
              <a:buSzPts val="1200"/>
              <a:buFont typeface="Albert Sans"/>
              <a:buChar char="●"/>
            </a:pPr>
            <a:r>
              <a:rPr lang="es" sz="12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Etapa 2 :</a:t>
            </a:r>
            <a:r>
              <a:rPr lang="es" sz="12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Expansión de la activación high y moderate hacia las Top 5 ciudades y Top 5 categorías, complementando la cobertura inicial (+337 POS, +0.15%, +0.43% acumulado)</a:t>
            </a:r>
            <a:br>
              <a:rPr lang="es" sz="12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sz="12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417"/>
              </a:buClr>
              <a:buSzPts val="1200"/>
              <a:buFont typeface="Albert Sans"/>
              <a:buChar char="●"/>
            </a:pPr>
            <a:r>
              <a:rPr lang="es" sz="12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Etapa 3:</a:t>
            </a:r>
            <a:r>
              <a:rPr lang="es" sz="12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Activación de puntos high y moderate en el siguiente bloque ampliado, cubriendo las Top 8 ciudades y Top 8 categorías (+534 POS, +0.23%, +0.66% acumulado)</a:t>
            </a:r>
            <a:endParaRPr sz="12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417"/>
              </a:buClr>
              <a:buSzPts val="1200"/>
              <a:buFont typeface="Albert Sans"/>
              <a:buChar char="●"/>
            </a:pPr>
            <a:r>
              <a:rPr lang="es" sz="12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Etapa 4:</a:t>
            </a:r>
            <a:r>
              <a:rPr lang="es" sz="12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Activación de puntos high y moderate en el resto de ciudades y categorías fuera del Top 8 (+2,012 POS, +0.88%, +1.54% acumulado)</a:t>
            </a:r>
            <a:endParaRPr sz="12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81" name="Google Shape;481;p42"/>
          <p:cNvSpPr txBox="1"/>
          <p:nvPr/>
        </p:nvSpPr>
        <p:spPr>
          <a:xfrm>
            <a:off x="1005225" y="3737575"/>
            <a:ext cx="7141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En total, la activación por etapas representa un potencial de </a:t>
            </a:r>
            <a:r>
              <a:rPr lang="es" sz="12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+3,532 </a:t>
            </a:r>
            <a:r>
              <a:rPr lang="es" sz="12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nuevos puntos, equivalente a un crecimiento de </a:t>
            </a:r>
            <a:r>
              <a:rPr lang="es" sz="12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+1.54% </a:t>
            </a:r>
            <a:r>
              <a:rPr lang="es" sz="12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sobre el portafolio actual (229.077 POS).</a:t>
            </a:r>
            <a:endParaRPr sz="1500"/>
          </a:p>
        </p:txBody>
      </p:sp>
      <p:sp>
        <p:nvSpPr>
          <p:cNvPr id="482" name="Google Shape;482;p42"/>
          <p:cNvSpPr txBox="1"/>
          <p:nvPr/>
        </p:nvSpPr>
        <p:spPr>
          <a:xfrm>
            <a:off x="166225" y="4297975"/>
            <a:ext cx="8715600" cy="3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900" i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*  Tomar en cuenta que, en las primeras iteraciones, los resultados pueden variar dependiendo del % de precisión del modelo, donde se estima que se consiga un 50%-70% de exactitud donde los POS no-match en cada etapa son encontrados y validados</a:t>
            </a:r>
            <a:endParaRPr sz="900" i="1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3"/>
          <p:cNvSpPr txBox="1">
            <a:spLocks noGrp="1"/>
          </p:cNvSpPr>
          <p:nvPr>
            <p:ph type="title"/>
          </p:nvPr>
        </p:nvSpPr>
        <p:spPr>
          <a:xfrm>
            <a:off x="6274750" y="2438425"/>
            <a:ext cx="17727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>
                <a:solidFill>
                  <a:srgbClr val="E5FF01"/>
                </a:solidFill>
              </a:rPr>
              <a:t>S</a:t>
            </a:r>
            <a:r>
              <a:rPr lang="es">
                <a:solidFill>
                  <a:srgbClr val="E5FF01"/>
                </a:solidFill>
                <a:latin typeface="Space Grotesk"/>
                <a:ea typeface="Space Grotesk"/>
                <a:cs typeface="Space Grotesk"/>
                <a:sym typeface="Space Grotesk"/>
              </a:rPr>
              <a:t>iguientes pasos</a:t>
            </a:r>
            <a:endParaRPr>
              <a:solidFill>
                <a:srgbClr val="E5FF0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6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44"/>
          <p:cNvPicPr preferRelativeResize="0"/>
          <p:nvPr/>
        </p:nvPicPr>
        <p:blipFill rotWithShape="1">
          <a:blip r:embed="rId3">
            <a:alphaModFix/>
          </a:blip>
          <a:srcRect l="69672" b="13134"/>
          <a:stretch/>
        </p:blipFill>
        <p:spPr>
          <a:xfrm>
            <a:off x="6370825" y="0"/>
            <a:ext cx="2773176" cy="446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4"/>
          <p:cNvSpPr txBox="1"/>
          <p:nvPr/>
        </p:nvSpPr>
        <p:spPr>
          <a:xfrm>
            <a:off x="304800" y="301075"/>
            <a:ext cx="34290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lbert Sans"/>
              <a:buNone/>
            </a:pPr>
            <a:r>
              <a:rPr lang="es" sz="20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Próximos Pasos</a:t>
            </a:r>
            <a:endParaRPr sz="20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94" name="Google Shape;494;p44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lbert Sans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/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495" name="Google Shape;495;p44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lbert Sans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496" name="Google Shape;496;p44"/>
          <p:cNvPicPr preferRelativeResize="0"/>
          <p:nvPr/>
        </p:nvPicPr>
        <p:blipFill rotWithShape="1">
          <a:blip r:embed="rId4">
            <a:alphaModFix/>
          </a:blip>
          <a:srcRect t="90" b="90"/>
          <a:stretch/>
        </p:blipFill>
        <p:spPr>
          <a:xfrm>
            <a:off x="131750" y="4779201"/>
            <a:ext cx="1236828" cy="323099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44"/>
          <p:cNvSpPr txBox="1"/>
          <p:nvPr/>
        </p:nvSpPr>
        <p:spPr>
          <a:xfrm>
            <a:off x="387075" y="817600"/>
            <a:ext cx="51039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Proporcionar la base de datos de prospección (puntos de alta y moderada probabilidad de no match) para que los equipos de campo puedan priorizar y planificar las visitas de forma eficiente.</a:t>
            </a:r>
            <a:endParaRPr sz="1200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Validar los puntos de alta y moderada probabilidad no-match en el campo, centrándose en las áreas con mayor potencial comercial para acelerar la captación de nuevos clientes.</a:t>
            </a:r>
            <a:endParaRPr sz="1200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Compartir los resultados y la retroalimentación con los equipos comerciales para orientar las siguientes fases de activación y perfeccionar la precisión del ejercicio.</a:t>
            </a:r>
            <a:endParaRPr sz="1200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lbert Sans"/>
              <a:buNone/>
            </a:pPr>
            <a:endParaRPr sz="1400" b="0" i="0" u="none" strike="noStrike" cap="none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5"/>
          <p:cNvSpPr txBox="1">
            <a:spLocks noGrp="1"/>
          </p:cNvSpPr>
          <p:nvPr>
            <p:ph type="title"/>
          </p:nvPr>
        </p:nvSpPr>
        <p:spPr>
          <a:xfrm>
            <a:off x="6040175" y="2166825"/>
            <a:ext cx="2168799" cy="87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 sz="2300" dirty="0">
                <a:solidFill>
                  <a:srgbClr val="E5FF01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Vista previa a los datos</a:t>
            </a:r>
            <a:endParaRPr sz="2300" dirty="0">
              <a:solidFill>
                <a:srgbClr val="E5FF0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6"/>
          <p:cNvSpPr txBox="1"/>
          <p:nvPr/>
        </p:nvSpPr>
        <p:spPr>
          <a:xfrm>
            <a:off x="22100" y="437025"/>
            <a:ext cx="4241100" cy="20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Identificación del punto:</a:t>
            </a: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dataplor_id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:</a:t>
            </a: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ID único del punto en Dataplor.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name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: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Nombre comercial del establecimiento.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address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:</a:t>
            </a: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Dirección registrada.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latitude / longitude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:</a:t>
            </a: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Ubicación geográfica.</a:t>
            </a:r>
            <a:b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Phone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: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Información de contacto telefónico (si aplica)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08" name="Google Shape;508;p46"/>
          <p:cNvSpPr txBox="1"/>
          <p:nvPr/>
        </p:nvSpPr>
        <p:spPr>
          <a:xfrm>
            <a:off x="304800" y="71725"/>
            <a:ext cx="30420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lbert Sans"/>
              <a:buNone/>
            </a:pPr>
            <a:r>
              <a:rPr lang="es" sz="2000" b="0" i="0" u="none" strike="noStrike" cap="none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Glosario</a:t>
            </a:r>
            <a:endParaRPr sz="2000" b="0" i="0" u="none" strike="noStrike" cap="none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09" name="Google Shape;509;p46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lbert Sans"/>
              <a:buNone/>
            </a:pPr>
            <a:endParaRPr sz="1400" b="0" i="0" u="none" strike="noStrike" cap="non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10" name="Google Shape;510;p46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lbert Sans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/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511" name="Google Shape;511;p46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lbert Sans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512" name="Google Shape;51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46"/>
          <p:cNvPicPr preferRelativeResize="0"/>
          <p:nvPr/>
        </p:nvPicPr>
        <p:blipFill rotWithShape="1">
          <a:blip r:embed="rId4">
            <a:alphaModFix/>
          </a:blip>
          <a:srcRect l="596" t="823"/>
          <a:stretch/>
        </p:blipFill>
        <p:spPr>
          <a:xfrm>
            <a:off x="1530375" y="2594500"/>
            <a:ext cx="6070875" cy="19296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14" name="Google Shape;514;p46"/>
          <p:cNvSpPr txBox="1"/>
          <p:nvPr/>
        </p:nvSpPr>
        <p:spPr>
          <a:xfrm>
            <a:off x="4221800" y="252825"/>
            <a:ext cx="49224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business_category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:</a:t>
            </a: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Categoría del negocio.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Características Geográficas: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Columnas como </a:t>
            </a: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barrio, ciudad,  estado, código postal y código de país	</a:t>
            </a: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Channel: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Categorización On/Off premise con base a la categoría de negocio.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pos_id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: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ID en base de clientes (Cuando el punto es match).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match_nomatch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:</a:t>
            </a: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Indica si coincide o no con clientes existentes.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15" name="Google Shape;515;p46"/>
          <p:cNvSpPr txBox="1"/>
          <p:nvPr/>
        </p:nvSpPr>
        <p:spPr>
          <a:xfrm>
            <a:off x="2139600" y="2752600"/>
            <a:ext cx="3464400" cy="177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7"/>
          <p:cNvSpPr txBox="1"/>
          <p:nvPr/>
        </p:nvSpPr>
        <p:spPr>
          <a:xfrm>
            <a:off x="241775" y="786925"/>
            <a:ext cx="4158600" cy="3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Características del Local:</a:t>
            </a: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price_level =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Rango de precios estimado del local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number_of_reviews =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Cantidad total de reseñas registradas.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average_stars =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Calificación promedio del local-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website =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URL oficial del establecimiento (si existe).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place_attributes =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Etiquetas descriptivas (por ejemplo, “children-friendly”, “wifi”, etc.).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Horarios de atención:</a:t>
            </a: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monday_hours … sunday_hours =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Franja de apertura y cierre por día (formato HH:MM–HH:MM).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21" name="Google Shape;521;p47"/>
          <p:cNvSpPr txBox="1"/>
          <p:nvPr/>
        </p:nvSpPr>
        <p:spPr>
          <a:xfrm>
            <a:off x="304800" y="300325"/>
            <a:ext cx="30420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lbert Sans"/>
              <a:buNone/>
            </a:pPr>
            <a:r>
              <a:rPr lang="es" sz="2000" b="0" i="0" u="none" strike="noStrike" cap="none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Glosario</a:t>
            </a:r>
            <a:endParaRPr sz="2000" b="0" i="0" u="none" strike="noStrike" cap="none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22" name="Google Shape;522;p47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lbert Sans"/>
              <a:buNone/>
            </a:pPr>
            <a:endParaRPr sz="1400" b="0" i="0" u="none" strike="noStrike" cap="non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23" name="Google Shape;523;p47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lbert Sans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/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524" name="Google Shape;524;p47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lbert Sans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525" name="Google Shape;525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47"/>
          <p:cNvPicPr preferRelativeResize="0"/>
          <p:nvPr/>
        </p:nvPicPr>
        <p:blipFill rotWithShape="1">
          <a:blip r:embed="rId4">
            <a:alphaModFix/>
          </a:blip>
          <a:srcRect r="58358" b="59139"/>
          <a:stretch/>
        </p:blipFill>
        <p:spPr>
          <a:xfrm>
            <a:off x="4919425" y="1145550"/>
            <a:ext cx="3948351" cy="124071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27" name="Google Shape;527;p47"/>
          <p:cNvPicPr preferRelativeResize="0"/>
          <p:nvPr/>
        </p:nvPicPr>
        <p:blipFill rotWithShape="1">
          <a:blip r:embed="rId4">
            <a:alphaModFix/>
          </a:blip>
          <a:srcRect l="41637" b="51515"/>
          <a:stretch/>
        </p:blipFill>
        <p:spPr>
          <a:xfrm>
            <a:off x="4919425" y="2612300"/>
            <a:ext cx="3948351" cy="105048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8"/>
          <p:cNvSpPr txBox="1"/>
          <p:nvPr/>
        </p:nvSpPr>
        <p:spPr>
          <a:xfrm>
            <a:off x="183850" y="900875"/>
            <a:ext cx="4611600" cy="3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Servicios disponibles (valores TRUE / FALSE)</a:t>
            </a: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service_curbside_pickup =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Retiro en auto (curbside).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service_no_contact_delivery =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Entrega sin contacto físico.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service_delivery =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Servicio de delivery convencional.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service_takeout =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Pedido para llevar.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service_dine_in =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Consumo en lugar.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Características:</a:t>
            </a: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feature_seating =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Indica si el local cuenta con asientos.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lbert Sans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Potential_qualitative_final =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Nivel estimado de presencia real del punto (Low, Moderate, High).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33" name="Google Shape;533;p48"/>
          <p:cNvSpPr txBox="1"/>
          <p:nvPr/>
        </p:nvSpPr>
        <p:spPr>
          <a:xfrm>
            <a:off x="304800" y="300325"/>
            <a:ext cx="30420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lbert Sans"/>
              <a:buNone/>
            </a:pPr>
            <a:r>
              <a:rPr lang="es" sz="2000" b="0" i="0" u="none" strike="noStrike" cap="none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Glosario</a:t>
            </a:r>
            <a:endParaRPr sz="2000" b="0" i="0" u="none" strike="noStrike" cap="none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34" name="Google Shape;534;p48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lbert Sans"/>
              <a:buNone/>
            </a:pPr>
            <a:endParaRPr sz="1400" b="0" i="0" u="none" strike="noStrike" cap="non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35" name="Google Shape;535;p48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lbert Sans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/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536" name="Google Shape;536;p48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lbert Sans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537" name="Google Shape;537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48"/>
          <p:cNvPicPr preferRelativeResize="0"/>
          <p:nvPr/>
        </p:nvPicPr>
        <p:blipFill rotWithShape="1">
          <a:blip r:embed="rId4">
            <a:alphaModFix/>
          </a:blip>
          <a:srcRect t="2200"/>
          <a:stretch/>
        </p:blipFill>
        <p:spPr>
          <a:xfrm>
            <a:off x="4895475" y="1159400"/>
            <a:ext cx="4043749" cy="25513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F01"/>
        </a:solid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9"/>
          <p:cNvSpPr txBox="1"/>
          <p:nvPr/>
        </p:nvSpPr>
        <p:spPr>
          <a:xfrm>
            <a:off x="426835" y="3153976"/>
            <a:ext cx="3121200" cy="12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Contacts:</a:t>
            </a:r>
            <a:endParaRPr dirty="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222326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paula.lara@kinanalytics.com</a:t>
            </a:r>
            <a:endParaRPr dirty="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None/>
            </a:pPr>
            <a:r>
              <a:rPr lang="es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miguel.mena@kinanalytics.com</a:t>
            </a:r>
            <a:br>
              <a:rPr lang="es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r>
              <a:rPr lang="es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nicolas.ayala@kinanalytics.com</a:t>
            </a:r>
            <a:endParaRPr dirty="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lbert Sans"/>
              <a:buNone/>
            </a:pPr>
            <a:endParaRPr dirty="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545" name="Google Shape;54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7125" y="4512649"/>
            <a:ext cx="2468824" cy="38922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9"/>
          <p:cNvSpPr/>
          <p:nvPr/>
        </p:nvSpPr>
        <p:spPr>
          <a:xfrm>
            <a:off x="545575" y="812725"/>
            <a:ext cx="6576900" cy="18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Work Sans Black"/>
              <a:buNone/>
            </a:pPr>
            <a:r>
              <a:rPr lang="es" sz="7200" b="1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rPr>
              <a:t>Gracias</a:t>
            </a:r>
            <a:br>
              <a:rPr lang="es" sz="7200" b="1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s" sz="7200" b="1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endParaRPr sz="7200" b="1">
              <a:solidFill>
                <a:srgbClr val="2223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erpriseK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2069</Words>
  <Application>Microsoft Office PowerPoint</Application>
  <PresentationFormat>On-screen Show (16:9)</PresentationFormat>
  <Paragraphs>276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Space Grotesk Medium</vt:lpstr>
      <vt:lpstr>Albert Sans</vt:lpstr>
      <vt:lpstr>Arial</vt:lpstr>
      <vt:lpstr>Albert Sans Medium</vt:lpstr>
      <vt:lpstr>Roboto</vt:lpstr>
      <vt:lpstr>Work Sans Black</vt:lpstr>
      <vt:lpstr>Work Sans</vt:lpstr>
      <vt:lpstr>Albert Sans SemiBold</vt:lpstr>
      <vt:lpstr>Space Grotesk</vt:lpstr>
      <vt:lpstr>enterpriseK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Resultados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Siguientes pasos</vt:lpstr>
      <vt:lpstr>PowerPoint Presentation</vt:lpstr>
      <vt:lpstr>Vista previa a los datos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André Sarmiento</cp:lastModifiedBy>
  <cp:revision>2</cp:revision>
  <dcterms:modified xsi:type="dcterms:W3CDTF">2026-05-22T20:35:12Z</dcterms:modified>
</cp:coreProperties>
</file>